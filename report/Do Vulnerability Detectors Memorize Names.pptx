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One-line pitch: deep-learning models that look for security bugs in C code work much worse on software they have never seen. A well-known paper guessed that they memorize project-specific names. We cleaned the paper’s dataset, reproduced the problem, and tested that guess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we build on is DiverseVul, published at RAID 2023. It collected about 330,000 C/C++ functions and tested 11 deep learning models. The best ones reach about 45% F1 when the test code comes from the same projects as the training code. But a real tool runs on new code bases, and there CodeT5-Small drops to 9.4% F1. That gap is what our project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paper closely, we found three loose ends. First, label noise: the authors checked labels by hand and say about 4% are wrong because a security-fix commit only changed whitespace. They suggest normalizing whitespace before removing duplicates, but leave it as future work. Second, the generalization gap: the authors say they don’t know the cause. Third, their own guess, quoted on the right: the model memorizes project-specific idioms. They never test it. That third card is the heart of 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turned the three loose ends into three research questions. RQ1 is about data quality. RQ2 checks that we can reproduce the problem with free compute. RQ3 is the real experiment: remove the names and see whether the model generalizes better. We’ll come back to each of these with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exploration script reproduces the paper’s counts exactly: 330,492 functions and 18,945 vulnerable ones. Only 5.7% are vulnerable, so accuracy is meaningless: always answering “safe” scores 94%. That’s why everything later is reported as precision, recall and F1. Linux dominates the dataset, which matters for the unseen-project split. Labels come from security-fix commits: whatever a fix changed is called vulnerable. That’s scalable but noisy, which leads to our first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that surprised us: vulnerable functions are much longer. The median is 50 lines against 18. That matters twice. First, length alone predicts the label, so a model can cheat. Second, the model only reads the first part of a long function: we use 256 tokens, so the buggy line is often cut off. We come back to this when explaining why our scores are lower than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pipeline. Each step is one short Python script. The blue steps prepare data and run on a laptop. The orange steps run on a free Google Colab GPU, because neither of us has a GPU. Colab clones our GitHub repo and re-runs the same preparation scripts, so both sides use identical code. Steps 4 to 7 run four times, once per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removed duplicates by hashing the raw text, so a function that differs only by a space or a comment counts as different. That’s a problem: when a security-fix commit only re-formats a function, the old version is labelled vulnerable and the new one safe, yet the code is identical. Our script removes comments and whitespace, groups identical functions, and drops every group with contradictory labels, because we can’t know which label is right. It’s one short Python script, clean_dedup.py.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had zero exact duplicates, but after normalizing we found 4,397 groups of duplicates. In 900 of them, the very same code is labelled both vulnerable and safe. That gives 901 vulnerable labels that are almost certainly wrong: 4.8% of all vulnerable functions. The paper estimated about 4% by checking 50 functions by hand, so we confirm their number automatically. An example from the yara project: its lexer’s input function appears twice with identical code, once labelled 1 and once 0. We removed 5,440 functions and kept 325,052.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fine-tune CodeT5-Small, the smallest of the paper’s best models, with Hugging Face Transformers on a free Colab T4. Two splits, as in the paper: random, and unseen projects where 80 whole projects are held out. To fit the GPU time, training keeps every vulnerable function plus three safe ones for each; validation and test keep the real 1-to-17 balance, so the scores are honest. Because training is rebalanced, we choose the decision threshold that gives the best F1 on the validation set and never tune 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test of the paper’s guess. If the model fails on new projects because it memorizes names like png_ptr, then hiding those names should help. One regular expression walks through each function: it removes comments, leaves strings alone, keeps C keywords and about 70 risky library functions like memcpy and free, because that’s where memory bugs happen, and renames everything else to VAR or FUNC with a number. The same name always gets the same placeholder, so the model can still follow the data flow. Renaming all 325,000 functions takes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switches give a two-by-two design: split times renaming. Run 1 checks that our setup works. Run 2 shows the generalization problem. Run 3 tells us whether renaming costs anything on familiar code. Run 4 is the key experiment: unseen projects with renamed code. If the paper’s guess is right, run 4 should clearly beat run 2. All four runs use identical settings, and only those two switches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four runs on their test sets. “False alarms” is the false positive rate: the share of safe functions the model flags. Two comparisons matter. Run 1 to Run 2: F1 falls from 29.8 to 19.6 on unseen projects, so we reproduce the problem. Run 2 to Run 4, the key experiment: F1 only moves from 19.6 to 20.6, which is within run-to-run noise, while the false alarm rate doubles. The next slides show this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F1 scores side by side. On the left, the random split: renaming costs about six points, so names are useful to the model. On the right, unseen projects: renaming gains only one point, too small to count as an improvement from a single run. And the big drop between left and right is the generalization gap we reproduced. Bottom line: hiding names does not fix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beyond F1: renaming changes how the model behaves on unseen projects. Recall goes up from 20 to 32 percent, so it finds about 400 real vulnerabilities instead of 254. But the false positive rate doubles, from about 1,100 to about 2,200 false alarms. The decision threshold is chosen on validation data from seen projects, and it doesn’t transfer well to new projects. So the model isn’t smarter, it just says “vulnerable”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from the training curves. One: without names the model learns less; the dashed renamed runs keep a much higher loss. Two: training on renamed code is unstable; run 4 almost collapses in epoch 2. Three, and this one matters for practice: run 2 has the best validation score of all, because its validation data comes from seen projects, yet it does poorly on unseen ones. If you select models on in-distribution validation data, you’ll overestimate how well they work on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didn’t it work? We see four reasons. Names carry real meaning, like len or buf, and removing them throws information away, which explains the drop on known projects. CodeT5 was specifically pre-trained to understand identifiers, so placeholders disable part of what makes it strong. Projects differ in many ways besides names, such as style, macros and structure, and renaming leaves those alone. And the threshold chosen on seen projects doesn’t carry over to new ones. So our answer to RQ3 is no: the paper’s explanation is not supported, and the real cause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software engineering course, so here is how we built it. Neither of us has a GPU, so we separated where code is written from where it runs. We write and test on the laptop, push to GitHub, and the Colab notebook clones the repo, so the cloud always runs committed code. After every run we download the executed notebook, with all its outputs, and commit it as evidence. The repo has eight short scripts, each with one job. Steps 1 to 4 went through feature branches and pull requests. Seeds and library versions are fixed, so anyone can rerun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part of the work was debugging, and it’s worth showing. The dataset’s hash field held 128-bit numbers that pandas can’t parse. Colab silently upgraded to Transformers 5, which can’t load the CodeT5 tokenizer, so we pinned the version. Some C functions literally contain the text slash-s in angle brackets, which is CodeT5’s end-of-input token, and that crashed evaluation. Our first training run used too low a learning rate and barely learned. And Colab’s free tier cut us off mid-run once. The lesson: pin versions and save evidence after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honest about the limits. Our random-split F1 is about 30 against the paper’s 45. The likely reasons: we cut functions at 256 tokens, we trained on far less data for only three epochs, and our cleaned data has fewer near-duplicates. Each setting ran once, so a one-point difference could be noise. For future work, the most interesting idea is partial renaming: remove only project prefixes like png_ but keep meaningful words like len. That would separate project identity from meaning more precisely than our full renaming.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things. One: data quality is a software problem; a single cheap normalization step found 901 contradictory labels, confirming the paper’s estimate automatically. Two: always evaluate the way a tool will be used; on new projects F1 drops by a third, and in-distribution validation scores hide that. Three: identifier names are useful meaning, not just a memorization shortcut. Removing them doesn’t fix generalization, so the cause remains an open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full code, all four executed training notebooks and the report are on GitHub. Likely questions: Why CodeT5-Small? It was one of the paper’s best models and the only one that fits a free GPU. Why not more runs? Each run takes about an hour of free GPU time, and Colab cut us off once. Is the 1-point difference real? We can’t claim it is with one run each; that’s why we say renaming does not meaningfully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aashitagrawal/diversevul-vuln-detection" TargetMode="Externa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22B"/>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8FB4E3"/>
                </a:solidFill>
                <a:latin typeface="IBM Plex Sans" pitchFamily="34" charset="0"/>
                <a:ea typeface="IBM Plex Sans" pitchFamily="34" charset="-122"/>
                <a:cs typeface="IBM Plex Sans" pitchFamily="34" charset="-120"/>
              </a:rPr>
              <a:t>ADVANCED SOFTWARE ENGINEERING · COURSE PROJECT</a:t>
            </a:r>
            <a:endParaRPr lang="en-US" sz="1400" dirty="0"/>
          </a:p>
        </p:txBody>
      </p:sp>
      <p:sp>
        <p:nvSpPr>
          <p:cNvPr id="4" name="Text 2"/>
          <p:cNvSpPr/>
          <p:nvPr>
            <p:ph type="title"/>
          </p:nvPr>
        </p:nvSpPr>
        <p:spPr>
          <a:xfrm>
            <a:off x="812800" y="2140082"/>
            <a:ext cx="10883392" cy="1412214"/>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Do Vulnerability Detectors Memorize Names?</a:t>
            </a:r>
            <a:endParaRPr lang="en-US" sz="5200" dirty="0"/>
          </a:p>
        </p:txBody>
      </p:sp>
      <p:sp>
        <p:nvSpPr>
          <p:cNvPr id="5" name="Text 3"/>
          <p:cNvSpPr/>
          <p:nvPr/>
        </p:nvSpPr>
        <p:spPr>
          <a:xfrm>
            <a:off x="812800" y="3730096"/>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4E5"/>
                </a:solidFill>
                <a:latin typeface="IBM Plex Sans" pitchFamily="34" charset="0"/>
                <a:ea typeface="IBM Plex Sans" pitchFamily="34" charset="-122"/>
                <a:cs typeface="IBM Plex Sans" pitchFamily="34" charset="-120"/>
              </a:rPr>
              <a:t>Cleaning DiverseVul and testing identifier renaming for deep-learning vulnerability detection on unseen projects</a:t>
            </a:r>
            <a:endParaRPr lang="en-US" sz="1800" dirty="0"/>
          </a:p>
        </p:txBody>
      </p:sp>
      <p:sp>
        <p:nvSpPr>
          <p:cNvPr id="6" name="Text 4"/>
          <p:cNvSpPr/>
          <p:nvPr/>
        </p:nvSpPr>
        <p:spPr>
          <a:xfrm>
            <a:off x="812800" y="5425546"/>
            <a:ext cx="308197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Aashit Agrawal · 26072005</a:t>
            </a:r>
            <a:endParaRPr lang="en-US" sz="1600" dirty="0"/>
          </a:p>
        </p:txBody>
      </p:sp>
      <p:sp>
        <p:nvSpPr>
          <p:cNvPr id="7" name="Text 5"/>
          <p:cNvSpPr/>
          <p:nvPr/>
        </p:nvSpPr>
        <p:spPr>
          <a:xfrm>
            <a:off x="812800" y="5760773"/>
            <a:ext cx="26453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Mohit Kukreja · 26072016</a:t>
            </a:r>
            <a:endParaRPr lang="en-US" sz="1600" dirty="0"/>
          </a:p>
        </p:txBody>
      </p:sp>
      <p:sp>
        <p:nvSpPr>
          <p:cNvPr id="8" name="Text 6"/>
          <p:cNvSpPr/>
          <p:nvPr/>
        </p:nvSpPr>
        <p:spPr>
          <a:xfrm>
            <a:off x="7087077" y="5532173"/>
            <a:ext cx="4292124"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4E5"/>
                </a:solidFill>
                <a:latin typeface="IBM Plex Sans" pitchFamily="34" charset="0"/>
                <a:ea typeface="IBM Plex Sans" pitchFamily="34" charset="-122"/>
                <a:cs typeface="IBM Plex Sans" pitchFamily="34" charset="-120"/>
              </a:rPr>
              <a:t>Building on Chen et al., “DiverseVul”, RAID 2023</a:t>
            </a:r>
            <a:endParaRPr lang="en-US" sz="1300" dirty="0"/>
          </a:p>
        </p:txBody>
      </p:sp>
      <p:sp>
        <p:nvSpPr>
          <p:cNvPr id="9" name="Text 7"/>
          <p:cNvSpPr/>
          <p:nvPr/>
        </p:nvSpPr>
        <p:spPr>
          <a:xfrm>
            <a:off x="10140950" y="5814087"/>
            <a:ext cx="123825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4E5"/>
                </a:solidFill>
                <a:latin typeface="IBM Plex Sans" pitchFamily="34" charset="0"/>
                <a:ea typeface="IBM Plex Sans" pitchFamily="34" charset="-122"/>
                <a:cs typeface="IBM Plex Sans" pitchFamily="34" charset="-120"/>
              </a:rPr>
              <a:t>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0232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Can a model read a C function and spot a security bug?</a:t>
            </a:r>
            <a:endParaRPr lang="en-US" sz="3200" dirty="0"/>
          </a:p>
        </p:txBody>
      </p:sp>
      <p:sp>
        <p:nvSpPr>
          <p:cNvPr id="4" name="Shape 2"/>
          <p:cNvSpPr/>
          <p:nvPr/>
        </p:nvSpPr>
        <p:spPr>
          <a:xfrm>
            <a:off x="815975" y="1928416"/>
            <a:ext cx="4591050" cy="2323571"/>
          </a:xfrm>
          <a:prstGeom prst="roundRect">
            <a:avLst>
              <a:gd name="adj" fmla="val 5329"/>
            </a:avLst>
          </a:prstGeom>
          <a:solidFill>
            <a:srgbClr val="FFFFFF"/>
          </a:solidFill>
          <a:ln w="6350">
            <a:solidFill>
              <a:srgbClr val="DDE3EA"/>
            </a:solidFill>
            <a:prstDash val="solid"/>
          </a:ln>
        </p:spPr>
      </p:sp>
      <p:sp>
        <p:nvSpPr>
          <p:cNvPr id="5" name="Text 3"/>
          <p:cNvSpPr/>
          <p:nvPr/>
        </p:nvSpPr>
        <p:spPr>
          <a:xfrm>
            <a:off x="1121833" y="2234274"/>
            <a:ext cx="409871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FB0"/>
                </a:solidFill>
                <a:latin typeface="IBM Plex Sans" pitchFamily="34" charset="0"/>
                <a:ea typeface="IBM Plex Sans" pitchFamily="34" charset="-122"/>
                <a:cs typeface="IBM Plex Sans" pitchFamily="34" charset="-120"/>
              </a:rPr>
              <a:t>45.1%</a:t>
            </a:r>
            <a:endParaRPr lang="en-US" sz="6000" dirty="0"/>
          </a:p>
        </p:txBody>
      </p:sp>
      <p:sp>
        <p:nvSpPr>
          <p:cNvPr id="6" name="Text 4"/>
          <p:cNvSpPr/>
          <p:nvPr/>
        </p:nvSpPr>
        <p:spPr>
          <a:xfrm>
            <a:off x="1121833" y="3097874"/>
            <a:ext cx="409871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F1 on a random test split</a:t>
            </a:r>
            <a:endParaRPr lang="en-US" sz="1600" dirty="0"/>
          </a:p>
        </p:txBody>
      </p:sp>
      <p:sp>
        <p:nvSpPr>
          <p:cNvPr id="7" name="Text 5"/>
          <p:cNvSpPr/>
          <p:nvPr/>
        </p:nvSpPr>
        <p:spPr>
          <a:xfrm>
            <a:off x="1121833" y="3483901"/>
            <a:ext cx="409871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Test code comes from projects the model has already seen</a:t>
            </a:r>
            <a:endParaRPr lang="en-US" sz="1300" dirty="0"/>
          </a:p>
        </p:txBody>
      </p:sp>
      <p:pic>
        <p:nvPicPr>
          <p:cNvPr id="8" name="Image 0" descr="arrow-right">    </p:cNvPr>
          <p:cNvPicPr>
            <a:picLocks noChangeAspect="1"/>
          </p:cNvPicPr>
          <p:nvPr/>
        </p:nvPicPr>
        <p:blipFill>
          <a:blip r:embed="rId1"/>
          <a:srcRect l="0" r="0" t="0" b="0"/>
          <a:stretch/>
        </p:blipFill>
        <p:spPr>
          <a:xfrm>
            <a:off x="5715000" y="2899701"/>
            <a:ext cx="762000" cy="381000"/>
          </a:xfrm>
          <a:prstGeom prst="rect">
            <a:avLst/>
          </a:prstGeom>
        </p:spPr>
      </p:pic>
      <p:sp>
        <p:nvSpPr>
          <p:cNvPr id="9" name="Shape 6"/>
          <p:cNvSpPr/>
          <p:nvPr/>
        </p:nvSpPr>
        <p:spPr>
          <a:xfrm>
            <a:off x="6784975" y="2043973"/>
            <a:ext cx="4591050" cy="2092457"/>
          </a:xfrm>
          <a:prstGeom prst="roundRect">
            <a:avLst>
              <a:gd name="adj" fmla="val 5918"/>
            </a:avLst>
          </a:prstGeom>
          <a:solidFill>
            <a:srgbClr val="FFFFFF"/>
          </a:solidFill>
          <a:ln w="6350">
            <a:solidFill>
              <a:srgbClr val="DDE3EA"/>
            </a:solidFill>
            <a:prstDash val="solid"/>
          </a:ln>
        </p:spPr>
      </p:sp>
      <p:sp>
        <p:nvSpPr>
          <p:cNvPr id="10" name="Text 7"/>
          <p:cNvSpPr/>
          <p:nvPr/>
        </p:nvSpPr>
        <p:spPr>
          <a:xfrm>
            <a:off x="7090834" y="2349831"/>
            <a:ext cx="409871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5491A"/>
                </a:solidFill>
                <a:latin typeface="IBM Plex Sans" pitchFamily="34" charset="0"/>
                <a:ea typeface="IBM Plex Sans" pitchFamily="34" charset="-122"/>
                <a:cs typeface="IBM Plex Sans" pitchFamily="34" charset="-120"/>
              </a:rPr>
              <a:t>9.4%</a:t>
            </a:r>
            <a:endParaRPr lang="en-US" sz="6000" dirty="0"/>
          </a:p>
        </p:txBody>
      </p:sp>
      <p:sp>
        <p:nvSpPr>
          <p:cNvPr id="11" name="Text 8"/>
          <p:cNvSpPr/>
          <p:nvPr/>
        </p:nvSpPr>
        <p:spPr>
          <a:xfrm>
            <a:off x="7090834" y="3213431"/>
            <a:ext cx="409871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F1 on unseen projects</a:t>
            </a:r>
            <a:endParaRPr lang="en-US" sz="1600" dirty="0"/>
          </a:p>
        </p:txBody>
      </p:sp>
      <p:sp>
        <p:nvSpPr>
          <p:cNvPr id="12" name="Text 9"/>
          <p:cNvSpPr/>
          <p:nvPr/>
        </p:nvSpPr>
        <p:spPr>
          <a:xfrm>
            <a:off x="7090834" y="3599458"/>
            <a:ext cx="42820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Test code comes from projects never used in training</a:t>
            </a:r>
            <a:endParaRPr lang="en-US" sz="1300" dirty="0"/>
          </a:p>
        </p:txBody>
      </p:sp>
      <p:sp>
        <p:nvSpPr>
          <p:cNvPr id="13" name="Text 10"/>
          <p:cNvSpPr/>
          <p:nvPr/>
        </p:nvSpPr>
        <p:spPr>
          <a:xfrm>
            <a:off x="812800" y="4610762"/>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CodeT5-Small in the DiverseVul paper (Chen et al., RAID 2023). Real tools must work on </a:t>
            </a:r>
            <a:r>
              <a:rPr lang="en-US" sz="1600" b="1" dirty="0">
                <a:solidFill>
                  <a:srgbClr val="3A4556"/>
                </a:solidFill>
                <a:latin typeface="IBM Plex Sans" pitchFamily="34" charset="0"/>
                <a:ea typeface="IBM Plex Sans" pitchFamily="34" charset="-122"/>
                <a:cs typeface="IBM Plex Sans" pitchFamily="34" charset="-120"/>
              </a:rPr>
              <a:t>new</a:t>
            </a:r>
            <a:r>
              <a:rPr lang="en-US" sz="1600" dirty="0">
                <a:solidFill>
                  <a:srgbClr val="3A4556"/>
                </a:solidFill>
                <a:latin typeface="IBM Plex Sans" pitchFamily="34" charset="0"/>
                <a:ea typeface="IBM Plex Sans" pitchFamily="34" charset="-122"/>
                <a:cs typeface="IBM Plex Sans" pitchFamily="34" charset="-120"/>
              </a:rPr>
              <a:t> code, so this drop is the core problem of the field.</a:t>
            </a:r>
            <a:endParaRPr lang="en-US" sz="16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WHAT THE PAPER LEFT OPEN</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Three loose ends we picked up</a:t>
            </a:r>
            <a:endParaRPr lang="en-US" sz="3200" dirty="0"/>
          </a:p>
        </p:txBody>
      </p:sp>
      <p:sp>
        <p:nvSpPr>
          <p:cNvPr id="4" name="Shape 2"/>
          <p:cNvSpPr/>
          <p:nvPr/>
        </p:nvSpPr>
        <p:spPr>
          <a:xfrm>
            <a:off x="815975" y="1928416"/>
            <a:ext cx="3346450" cy="3910409"/>
          </a:xfrm>
          <a:prstGeom prst="roundRect">
            <a:avLst>
              <a:gd name="adj" fmla="val 2941"/>
            </a:avLst>
          </a:prstGeom>
          <a:solidFill>
            <a:srgbClr val="FFFFFF"/>
          </a:solidFill>
          <a:ln w="6350">
            <a:solidFill>
              <a:srgbClr val="DDE3EA"/>
            </a:solidFill>
            <a:prstDash val="solid"/>
          </a:ln>
        </p:spPr>
      </p:sp>
      <p:sp>
        <p:nvSpPr>
          <p:cNvPr id="5" name="Text 3"/>
          <p:cNvSpPr/>
          <p:nvPr/>
        </p:nvSpPr>
        <p:spPr>
          <a:xfrm>
            <a:off x="1096433" y="2208874"/>
            <a:ext cx="28690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Noisy labels</a:t>
            </a:r>
            <a:endParaRPr lang="en-US" sz="2000" dirty="0"/>
          </a:p>
        </p:txBody>
      </p:sp>
      <p:sp>
        <p:nvSpPr>
          <p:cNvPr id="6" name="Text 4"/>
          <p:cNvSpPr/>
          <p:nvPr/>
        </p:nvSpPr>
        <p:spPr>
          <a:xfrm>
            <a:off x="1096433" y="2640674"/>
            <a:ext cx="2869099"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4556"/>
                </a:solidFill>
                <a:latin typeface="IBM Plex Sans" pitchFamily="34" charset="0"/>
                <a:ea typeface="IBM Plex Sans" pitchFamily="34" charset="-122"/>
                <a:cs typeface="IBM Plex Sans" pitchFamily="34" charset="-120"/>
              </a:rPr>
              <a:t>About </a:t>
            </a:r>
            <a:r>
              <a:rPr lang="en-US" sz="1400" b="1" dirty="0">
                <a:solidFill>
                  <a:srgbClr val="3A4556"/>
                </a:solidFill>
                <a:latin typeface="IBM Plex Sans" pitchFamily="34" charset="0"/>
                <a:ea typeface="IBM Plex Sans" pitchFamily="34" charset="-122"/>
                <a:cs typeface="IBM Plex Sans" pitchFamily="34" charset="-120"/>
              </a:rPr>
              <a:t>4%</a:t>
            </a:r>
            <a:r>
              <a:rPr lang="en-US" sz="1400" dirty="0">
                <a:solidFill>
                  <a:srgbClr val="3A4556"/>
                </a:solidFill>
                <a:latin typeface="IBM Plex Sans" pitchFamily="34" charset="0"/>
                <a:ea typeface="IBM Plex Sans" pitchFamily="34" charset="-122"/>
                <a:cs typeface="IBM Plex Sans" pitchFamily="34" charset="-120"/>
              </a:rPr>
              <a:t> of “vulnerable” labels are wrong because the fixing commit only changed whitespace.</a:t>
            </a:r>
            <a:endParaRPr lang="en-US" sz="1400" dirty="0"/>
          </a:p>
        </p:txBody>
      </p:sp>
      <p:sp>
        <p:nvSpPr>
          <p:cNvPr id="7" name="Text 5"/>
          <p:cNvSpPr/>
          <p:nvPr/>
        </p:nvSpPr>
        <p:spPr>
          <a:xfrm>
            <a:off x="1096433" y="3540985"/>
            <a:ext cx="2869099"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4556"/>
                </a:solidFill>
                <a:latin typeface="IBM Plex Sans" pitchFamily="34" charset="0"/>
                <a:ea typeface="IBM Plex Sans" pitchFamily="34" charset="-122"/>
                <a:cs typeface="IBM Plex Sans" pitchFamily="34" charset="-120"/>
              </a:rPr>
              <a:t>The authors propose a fix but don’t apply it.</a:t>
            </a:r>
            <a:endParaRPr lang="en-US" sz="1400" dirty="0"/>
          </a:p>
        </p:txBody>
      </p:sp>
      <p:sp>
        <p:nvSpPr>
          <p:cNvPr id="8" name="Shape 6"/>
          <p:cNvSpPr/>
          <p:nvPr/>
        </p:nvSpPr>
        <p:spPr>
          <a:xfrm>
            <a:off x="4422775" y="1928416"/>
            <a:ext cx="3346450" cy="3910409"/>
          </a:xfrm>
          <a:prstGeom prst="roundRect">
            <a:avLst>
              <a:gd name="adj" fmla="val 2941"/>
            </a:avLst>
          </a:prstGeom>
          <a:solidFill>
            <a:srgbClr val="FFFFFF"/>
          </a:solidFill>
          <a:ln w="6350">
            <a:solidFill>
              <a:srgbClr val="DDE3EA"/>
            </a:solidFill>
            <a:prstDash val="solid"/>
          </a:ln>
        </p:spPr>
      </p:sp>
      <p:sp>
        <p:nvSpPr>
          <p:cNvPr id="9" name="Text 7"/>
          <p:cNvSpPr/>
          <p:nvPr/>
        </p:nvSpPr>
        <p:spPr>
          <a:xfrm>
            <a:off x="4703233" y="2208874"/>
            <a:ext cx="28690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A big gap</a:t>
            </a:r>
            <a:endParaRPr lang="en-US" sz="2000" dirty="0"/>
          </a:p>
        </p:txBody>
      </p:sp>
      <p:sp>
        <p:nvSpPr>
          <p:cNvPr id="10" name="Text 8"/>
          <p:cNvSpPr/>
          <p:nvPr/>
        </p:nvSpPr>
        <p:spPr>
          <a:xfrm>
            <a:off x="4703233" y="2640674"/>
            <a:ext cx="2869099"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4556"/>
                </a:solidFill>
                <a:latin typeface="IBM Plex Sans" pitchFamily="34" charset="0"/>
                <a:ea typeface="IBM Plex Sans" pitchFamily="34" charset="-122"/>
                <a:cs typeface="IBM Plex Sans" pitchFamily="34" charset="-120"/>
              </a:rPr>
              <a:t>F1 falls from </a:t>
            </a:r>
            <a:r>
              <a:rPr lang="en-US" sz="1400" b="1" dirty="0">
                <a:solidFill>
                  <a:srgbClr val="3A4556"/>
                </a:solidFill>
                <a:latin typeface="IBM Plex Sans" pitchFamily="34" charset="0"/>
                <a:ea typeface="IBM Plex Sans" pitchFamily="34" charset="-122"/>
                <a:cs typeface="IBM Plex Sans" pitchFamily="34" charset="-120"/>
              </a:rPr>
              <a:t>45%</a:t>
            </a:r>
            <a:r>
              <a:rPr lang="en-US" sz="1400" dirty="0">
                <a:solidFill>
                  <a:srgbClr val="3A4556"/>
                </a:solidFill>
                <a:latin typeface="IBM Plex Sans" pitchFamily="34" charset="0"/>
                <a:ea typeface="IBM Plex Sans" pitchFamily="34" charset="-122"/>
                <a:cs typeface="IBM Plex Sans" pitchFamily="34" charset="-120"/>
              </a:rPr>
              <a:t> to </a:t>
            </a:r>
            <a:r>
              <a:rPr lang="en-US" sz="1400" b="1" dirty="0">
                <a:solidFill>
                  <a:srgbClr val="3A4556"/>
                </a:solidFill>
                <a:latin typeface="IBM Plex Sans" pitchFamily="34" charset="0"/>
                <a:ea typeface="IBM Plex Sans" pitchFamily="34" charset="-122"/>
                <a:cs typeface="IBM Plex Sans" pitchFamily="34" charset="-120"/>
              </a:rPr>
              <a:t>9%</a:t>
            </a:r>
            <a:r>
              <a:rPr lang="en-US" sz="1400" dirty="0">
                <a:solidFill>
                  <a:srgbClr val="3A4556"/>
                </a:solidFill>
                <a:latin typeface="IBM Plex Sans" pitchFamily="34" charset="0"/>
                <a:ea typeface="IBM Plex Sans" pitchFamily="34" charset="-122"/>
                <a:cs typeface="IBM Plex Sans" pitchFamily="34" charset="-120"/>
              </a:rPr>
              <a:t> on projects the model never saw.</a:t>
            </a:r>
            <a:endParaRPr lang="en-US" sz="1400" dirty="0"/>
          </a:p>
        </p:txBody>
      </p:sp>
      <p:sp>
        <p:nvSpPr>
          <p:cNvPr id="11" name="Text 9"/>
          <p:cNvSpPr/>
          <p:nvPr/>
        </p:nvSpPr>
        <p:spPr>
          <a:xfrm>
            <a:off x="4703233" y="3283215"/>
            <a:ext cx="2869099"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4556"/>
                </a:solidFill>
                <a:latin typeface="IBM Plex Sans" pitchFamily="34" charset="0"/>
                <a:ea typeface="IBM Plex Sans" pitchFamily="34" charset="-122"/>
                <a:cs typeface="IBM Plex Sans" pitchFamily="34" charset="-120"/>
              </a:rPr>
              <a:t>The authors write that the cause is unclear.</a:t>
            </a:r>
            <a:endParaRPr lang="en-US" sz="1400" dirty="0"/>
          </a:p>
        </p:txBody>
      </p:sp>
      <p:sp>
        <p:nvSpPr>
          <p:cNvPr id="12" name="Shape 10"/>
          <p:cNvSpPr/>
          <p:nvPr/>
        </p:nvSpPr>
        <p:spPr>
          <a:xfrm>
            <a:off x="8029575" y="1928416"/>
            <a:ext cx="3346450" cy="3910409"/>
          </a:xfrm>
          <a:prstGeom prst="roundRect">
            <a:avLst>
              <a:gd name="adj" fmla="val 2941"/>
            </a:avLst>
          </a:prstGeom>
          <a:solidFill>
            <a:srgbClr val="FFFFFF"/>
          </a:solidFill>
          <a:ln w="6350">
            <a:solidFill>
              <a:srgbClr val="DDE3EA"/>
            </a:solidFill>
            <a:prstDash val="solid"/>
          </a:ln>
        </p:spPr>
      </p:sp>
      <p:sp>
        <p:nvSpPr>
          <p:cNvPr id="13" name="Text 11"/>
          <p:cNvSpPr/>
          <p:nvPr/>
        </p:nvSpPr>
        <p:spPr>
          <a:xfrm>
            <a:off x="8310034" y="2208874"/>
            <a:ext cx="28690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An untested guess</a:t>
            </a:r>
            <a:endParaRPr lang="en-US" sz="2000" dirty="0"/>
          </a:p>
        </p:txBody>
      </p:sp>
      <p:sp>
        <p:nvSpPr>
          <p:cNvPr id="14" name="Text 12"/>
          <p:cNvSpPr/>
          <p:nvPr/>
        </p:nvSpPr>
        <p:spPr>
          <a:xfrm>
            <a:off x="8310034" y="2640674"/>
            <a:ext cx="2869099" cy="798711"/>
          </a:xfrm>
          <a:prstGeom prst="rect">
            <a:avLst/>
          </a:prstGeom>
          <a:noFill/>
          <a:ln/>
        </p:spPr>
        <p:txBody>
          <a:bodyPr wrap="square" lIns="0" tIns="0" rIns="0" bIns="0" rtlCol="0" anchor="t">
            <a:normAutofit/>
          </a:bodyPr>
          <a:lstStyle/>
          <a:p>
            <a:pPr algn="l" indent="0" marL="0">
              <a:lnSpc>
                <a:spcPts val="2030"/>
              </a:lnSpc>
              <a:buNone/>
            </a:pPr>
            <a:r>
              <a:rPr lang="en-US" sz="1400" i="1" dirty="0">
                <a:solidFill>
                  <a:srgbClr val="3A4556"/>
                </a:solidFill>
                <a:latin typeface="IBM Plex Sans" pitchFamily="34" charset="0"/>
                <a:ea typeface="IBM Plex Sans" pitchFamily="34" charset="-122"/>
                <a:cs typeface="IBM Plex Sans" pitchFamily="34" charset="-120"/>
              </a:rPr>
              <a:t>“perhaps the model is overfitting to patterns or coding idioms that are specific to the particular projects”</a:t>
            </a:r>
            <a:endParaRPr lang="en-US" sz="1400" dirty="0"/>
          </a:p>
        </p:txBody>
      </p:sp>
      <p:sp>
        <p:nvSpPr>
          <p:cNvPr id="15" name="Text 13"/>
          <p:cNvSpPr/>
          <p:nvPr/>
        </p:nvSpPr>
        <p:spPr>
          <a:xfrm>
            <a:off x="8310034" y="3540985"/>
            <a:ext cx="28690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4556"/>
                </a:solidFill>
                <a:latin typeface="IBM Plex Sans" pitchFamily="34" charset="0"/>
                <a:ea typeface="IBM Plex Sans" pitchFamily="34" charset="-122"/>
                <a:cs typeface="IBM Plex Sans" pitchFamily="34" charset="-120"/>
              </a:rPr>
              <a:t>Nobody checked this.</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OUR RESEARCH QUESTIONS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One question for each loose end</a:t>
            </a:r>
            <a:endParaRPr lang="en-US" sz="3200" dirty="0"/>
          </a:p>
        </p:txBody>
      </p:sp>
      <p:sp>
        <p:nvSpPr>
          <p:cNvPr id="4" name="Shape 2"/>
          <p:cNvSpPr/>
          <p:nvPr/>
        </p:nvSpPr>
        <p:spPr>
          <a:xfrm>
            <a:off x="812800" y="1925241"/>
            <a:ext cx="10566400" cy="1026054"/>
          </a:xfrm>
          <a:prstGeom prst="roundRect">
            <a:avLst>
              <a:gd name="adj" fmla="val 9902"/>
            </a:avLst>
          </a:prstGeom>
          <a:solidFill>
            <a:srgbClr val="FFFFFF"/>
          </a:solidFill>
          <a:ln/>
        </p:spPr>
      </p:sp>
      <p:sp>
        <p:nvSpPr>
          <p:cNvPr id="5" name="Text 3"/>
          <p:cNvSpPr/>
          <p:nvPr/>
        </p:nvSpPr>
        <p:spPr>
          <a:xfrm>
            <a:off x="1092200" y="2189361"/>
            <a:ext cx="844074"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B0"/>
                </a:solidFill>
                <a:latin typeface="IBM Plex Sans" pitchFamily="34" charset="0"/>
                <a:ea typeface="IBM Plex Sans" pitchFamily="34" charset="-122"/>
                <a:cs typeface="IBM Plex Sans" pitchFamily="34" charset="-120"/>
              </a:rPr>
              <a:t>RQ1</a:t>
            </a:r>
            <a:endParaRPr lang="en-US" sz="2800" dirty="0"/>
          </a:p>
        </p:txBody>
      </p:sp>
      <p:sp>
        <p:nvSpPr>
          <p:cNvPr id="6" name="Text 4"/>
          <p:cNvSpPr/>
          <p:nvPr/>
        </p:nvSpPr>
        <p:spPr>
          <a:xfrm>
            <a:off x="2049595" y="2153841"/>
            <a:ext cx="932171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556"/>
                </a:solidFill>
                <a:latin typeface="IBM Plex Sans" pitchFamily="34" charset="0"/>
                <a:ea typeface="IBM Plex Sans" pitchFamily="34" charset="-122"/>
                <a:cs typeface="IBM Plex Sans" pitchFamily="34" charset="-120"/>
              </a:rPr>
              <a:t>Data quality:</a:t>
            </a:r>
            <a:r>
              <a:rPr lang="en-US" sz="1600" dirty="0">
                <a:solidFill>
                  <a:srgbClr val="3A4556"/>
                </a:solidFill>
                <a:latin typeface="IBM Plex Sans" pitchFamily="34" charset="0"/>
                <a:ea typeface="IBM Plex Sans" pitchFamily="34" charset="-122"/>
                <a:cs typeface="IBM Plex Sans" pitchFamily="34" charset="-120"/>
              </a:rPr>
              <a:t> how many functions are duplicates once comments and whitespace are ignored, and how many have contradictory labels?</a:t>
            </a:r>
            <a:endParaRPr lang="en-US" sz="1600" dirty="0"/>
          </a:p>
        </p:txBody>
      </p:sp>
      <p:sp>
        <p:nvSpPr>
          <p:cNvPr id="7" name="Shape 5"/>
          <p:cNvSpPr/>
          <p:nvPr/>
        </p:nvSpPr>
        <p:spPr>
          <a:xfrm>
            <a:off x="812800" y="3129096"/>
            <a:ext cx="10566400" cy="1026054"/>
          </a:xfrm>
          <a:prstGeom prst="roundRect">
            <a:avLst>
              <a:gd name="adj" fmla="val 9902"/>
            </a:avLst>
          </a:prstGeom>
          <a:solidFill>
            <a:srgbClr val="FFFFFF"/>
          </a:solidFill>
          <a:ln/>
        </p:spPr>
      </p:sp>
      <p:sp>
        <p:nvSpPr>
          <p:cNvPr id="8" name="Text 6"/>
          <p:cNvSpPr/>
          <p:nvPr/>
        </p:nvSpPr>
        <p:spPr>
          <a:xfrm>
            <a:off x="1092200" y="3393216"/>
            <a:ext cx="844074"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B0"/>
                </a:solidFill>
                <a:latin typeface="IBM Plex Sans" pitchFamily="34" charset="0"/>
                <a:ea typeface="IBM Plex Sans" pitchFamily="34" charset="-122"/>
                <a:cs typeface="IBM Plex Sans" pitchFamily="34" charset="-120"/>
              </a:rPr>
              <a:t>RQ2</a:t>
            </a:r>
            <a:endParaRPr lang="en-US" sz="2800" dirty="0"/>
          </a:p>
        </p:txBody>
      </p:sp>
      <p:sp>
        <p:nvSpPr>
          <p:cNvPr id="9" name="Text 7"/>
          <p:cNvSpPr/>
          <p:nvPr/>
        </p:nvSpPr>
        <p:spPr>
          <a:xfrm>
            <a:off x="2049595" y="3357696"/>
            <a:ext cx="932171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556"/>
                </a:solidFill>
                <a:latin typeface="IBM Plex Sans" pitchFamily="34" charset="0"/>
                <a:ea typeface="IBM Plex Sans" pitchFamily="34" charset="-122"/>
                <a:cs typeface="IBM Plex Sans" pitchFamily="34" charset="-120"/>
              </a:rPr>
              <a:t>Reproduction:</a:t>
            </a:r>
            <a:r>
              <a:rPr lang="en-US" sz="1600" dirty="0">
                <a:solidFill>
                  <a:srgbClr val="3A4556"/>
                </a:solidFill>
                <a:latin typeface="IBM Plex Sans" pitchFamily="34" charset="0"/>
                <a:ea typeface="IBM Plex Sans" pitchFamily="34" charset="-122"/>
                <a:cs typeface="IBM Plex Sans" pitchFamily="34" charset="-120"/>
              </a:rPr>
              <a:t> with a free cloud GPU, can we reproduce the gap between seen and unseen projects?</a:t>
            </a:r>
            <a:endParaRPr lang="en-US" sz="1600" dirty="0"/>
          </a:p>
        </p:txBody>
      </p:sp>
      <p:sp>
        <p:nvSpPr>
          <p:cNvPr id="10" name="Shape 8"/>
          <p:cNvSpPr/>
          <p:nvPr/>
        </p:nvSpPr>
        <p:spPr>
          <a:xfrm>
            <a:off x="812800" y="4332949"/>
            <a:ext cx="10566400" cy="1026054"/>
          </a:xfrm>
          <a:prstGeom prst="roundRect">
            <a:avLst>
              <a:gd name="adj" fmla="val 9902"/>
            </a:avLst>
          </a:prstGeom>
          <a:solidFill>
            <a:srgbClr val="FFFFFF"/>
          </a:solidFill>
          <a:ln/>
        </p:spPr>
      </p:sp>
      <p:sp>
        <p:nvSpPr>
          <p:cNvPr id="11" name="Shape 9"/>
          <p:cNvSpPr/>
          <p:nvPr/>
        </p:nvSpPr>
        <p:spPr>
          <a:xfrm>
            <a:off x="812800" y="4332949"/>
            <a:ext cx="10566400" cy="1026054"/>
          </a:xfrm>
          <a:custGeom>
            <a:avLst/>
            <a:gdLst/>
            <a:ahLst/>
            <a:cxnLst/>
            <a:rect l="l" t="t" r="r" b="b"/>
            <a:pathLst>
              <a:path w="10566400" h="1026054">
                <a:moveTo>
                  <a:pt x="101600" y="1026054"/>
                </a:moveTo>
                <a:lnTo>
                  <a:pt x="101600" y="1026054"/>
                </a:lnTo>
                <a:arcTo hR="101600" wR="101600" stAng="5400000" swAng="5400000"/>
                <a:lnTo>
                  <a:pt x="0" y="101600"/>
                </a:lnTo>
                <a:arcTo hR="101600" wR="101600" stAng="10800000" swAng="5400000"/>
                <a:lnTo>
                  <a:pt x="101600" y="0"/>
                </a:lnTo>
                <a:arcTo hR="101600" wR="50800" stAng="16200000" swAng="-5400000"/>
                <a:lnTo>
                  <a:pt x="50800" y="924454"/>
                </a:lnTo>
                <a:arcTo hR="101600" wR="50800" stAng="10800000" swAng="-5400000"/>
                <a:close/>
              </a:path>
            </a:pathLst>
          </a:custGeom>
          <a:solidFill>
            <a:srgbClr val="D9622B"/>
          </a:solidFill>
          <a:ln/>
        </p:spPr>
      </p:sp>
      <p:sp>
        <p:nvSpPr>
          <p:cNvPr id="12" name="Text 10"/>
          <p:cNvSpPr/>
          <p:nvPr/>
        </p:nvSpPr>
        <p:spPr>
          <a:xfrm>
            <a:off x="1143000" y="4597070"/>
            <a:ext cx="844074"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91A"/>
                </a:solidFill>
                <a:latin typeface="IBM Plex Sans" pitchFamily="34" charset="0"/>
                <a:ea typeface="IBM Plex Sans" pitchFamily="34" charset="-122"/>
                <a:cs typeface="IBM Plex Sans" pitchFamily="34" charset="-120"/>
              </a:rPr>
              <a:t>RQ3</a:t>
            </a:r>
            <a:endParaRPr lang="en-US" sz="2800" dirty="0"/>
          </a:p>
        </p:txBody>
      </p:sp>
      <p:sp>
        <p:nvSpPr>
          <p:cNvPr id="13" name="Text 11"/>
          <p:cNvSpPr/>
          <p:nvPr/>
        </p:nvSpPr>
        <p:spPr>
          <a:xfrm>
            <a:off x="2100395" y="4561549"/>
            <a:ext cx="9269388"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556"/>
                </a:solidFill>
                <a:latin typeface="IBM Plex Sans" pitchFamily="34" charset="0"/>
                <a:ea typeface="IBM Plex Sans" pitchFamily="34" charset="-122"/>
                <a:cs typeface="IBM Plex Sans" pitchFamily="34" charset="-120"/>
              </a:rPr>
              <a:t>Hypothesis test:</a:t>
            </a:r>
            <a:r>
              <a:rPr lang="en-US" sz="1600" dirty="0">
                <a:solidFill>
                  <a:srgbClr val="3A4556"/>
                </a:solidFill>
                <a:latin typeface="IBM Plex Sans" pitchFamily="34" charset="0"/>
                <a:ea typeface="IBM Plex Sans" pitchFamily="34" charset="-122"/>
                <a:cs typeface="IBM Plex Sans" pitchFamily="34" charset="-120"/>
              </a:rPr>
              <a:t> if we remove project-specific identifier names, does the model do better on unseen projects?</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THE DATASET</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DiverseVul: real C/C++ code from security fixes</a:t>
            </a:r>
            <a:endParaRPr lang="en-US" sz="3200" dirty="0"/>
          </a:p>
        </p:txBody>
      </p:sp>
      <p:sp>
        <p:nvSpPr>
          <p:cNvPr id="4" name="Shape 2"/>
          <p:cNvSpPr/>
          <p:nvPr/>
        </p:nvSpPr>
        <p:spPr>
          <a:xfrm>
            <a:off x="815975" y="1928416"/>
            <a:ext cx="2482850" cy="1739437"/>
          </a:xfrm>
          <a:prstGeom prst="roundRect">
            <a:avLst>
              <a:gd name="adj" fmla="val 5658"/>
            </a:avLst>
          </a:prstGeom>
          <a:solidFill>
            <a:srgbClr val="FFFFFF"/>
          </a:solidFill>
          <a:ln w="6350">
            <a:solidFill>
              <a:srgbClr val="DDE3EA"/>
            </a:solidFill>
            <a:prstDash val="solid"/>
          </a:ln>
        </p:spPr>
      </p:sp>
      <p:sp>
        <p:nvSpPr>
          <p:cNvPr id="5" name="Text 3"/>
          <p:cNvSpPr/>
          <p:nvPr/>
        </p:nvSpPr>
        <p:spPr>
          <a:xfrm>
            <a:off x="1071033" y="2183476"/>
            <a:ext cx="20319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13D"/>
                </a:solidFill>
                <a:latin typeface="IBM Plex Sans" pitchFamily="34" charset="0"/>
                <a:ea typeface="IBM Plex Sans" pitchFamily="34" charset="-122"/>
                <a:cs typeface="IBM Plex Sans" pitchFamily="34" charset="-120"/>
              </a:rPr>
              <a:t>330,492</a:t>
            </a:r>
            <a:endParaRPr lang="en-US" sz="3200" dirty="0"/>
          </a:p>
        </p:txBody>
      </p:sp>
      <p:sp>
        <p:nvSpPr>
          <p:cNvPr id="6" name="Text 4"/>
          <p:cNvSpPr/>
          <p:nvPr/>
        </p:nvSpPr>
        <p:spPr>
          <a:xfrm>
            <a:off x="1071033" y="2666076"/>
            <a:ext cx="203191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functions, one label each</a:t>
            </a:r>
            <a:endParaRPr lang="en-US" sz="1400" dirty="0"/>
          </a:p>
        </p:txBody>
      </p:sp>
      <p:sp>
        <p:nvSpPr>
          <p:cNvPr id="7" name="Shape 5"/>
          <p:cNvSpPr/>
          <p:nvPr/>
        </p:nvSpPr>
        <p:spPr>
          <a:xfrm>
            <a:off x="3508375" y="1928416"/>
            <a:ext cx="2482850" cy="1739437"/>
          </a:xfrm>
          <a:prstGeom prst="roundRect">
            <a:avLst>
              <a:gd name="adj" fmla="val 5658"/>
            </a:avLst>
          </a:prstGeom>
          <a:solidFill>
            <a:srgbClr val="FFFFFF"/>
          </a:solidFill>
          <a:ln w="6350">
            <a:solidFill>
              <a:srgbClr val="DDE3EA"/>
            </a:solidFill>
            <a:prstDash val="solid"/>
          </a:ln>
        </p:spPr>
      </p:sp>
      <p:sp>
        <p:nvSpPr>
          <p:cNvPr id="8" name="Text 6"/>
          <p:cNvSpPr/>
          <p:nvPr/>
        </p:nvSpPr>
        <p:spPr>
          <a:xfrm>
            <a:off x="3763433" y="2183476"/>
            <a:ext cx="20319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5491A"/>
                </a:solidFill>
                <a:latin typeface="IBM Plex Sans" pitchFamily="34" charset="0"/>
                <a:ea typeface="IBM Plex Sans" pitchFamily="34" charset="-122"/>
                <a:cs typeface="IBM Plex Sans" pitchFamily="34" charset="-120"/>
              </a:rPr>
              <a:t>5.7%</a:t>
            </a:r>
            <a:endParaRPr lang="en-US" sz="3200" dirty="0"/>
          </a:p>
        </p:txBody>
      </p:sp>
      <p:sp>
        <p:nvSpPr>
          <p:cNvPr id="9" name="Text 7"/>
          <p:cNvSpPr/>
          <p:nvPr/>
        </p:nvSpPr>
        <p:spPr>
          <a:xfrm>
            <a:off x="3763433" y="2666076"/>
            <a:ext cx="203191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vulnerable (18,945); the rest are safe</a:t>
            </a:r>
            <a:endParaRPr lang="en-US" sz="1400" dirty="0"/>
          </a:p>
        </p:txBody>
      </p:sp>
      <p:sp>
        <p:nvSpPr>
          <p:cNvPr id="10" name="Shape 8"/>
          <p:cNvSpPr/>
          <p:nvPr/>
        </p:nvSpPr>
        <p:spPr>
          <a:xfrm>
            <a:off x="6200775" y="1928416"/>
            <a:ext cx="2482850" cy="1739437"/>
          </a:xfrm>
          <a:prstGeom prst="roundRect">
            <a:avLst>
              <a:gd name="adj" fmla="val 5658"/>
            </a:avLst>
          </a:prstGeom>
          <a:solidFill>
            <a:srgbClr val="FFFFFF"/>
          </a:solidFill>
          <a:ln w="6350">
            <a:solidFill>
              <a:srgbClr val="DDE3EA"/>
            </a:solidFill>
            <a:prstDash val="solid"/>
          </a:ln>
        </p:spPr>
      </p:sp>
      <p:sp>
        <p:nvSpPr>
          <p:cNvPr id="11" name="Text 9"/>
          <p:cNvSpPr/>
          <p:nvPr/>
        </p:nvSpPr>
        <p:spPr>
          <a:xfrm>
            <a:off x="6455833" y="2183476"/>
            <a:ext cx="20319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13D"/>
                </a:solidFill>
                <a:latin typeface="IBM Plex Sans" pitchFamily="34" charset="0"/>
                <a:ea typeface="IBM Plex Sans" pitchFamily="34" charset="-122"/>
                <a:cs typeface="IBM Plex Sans" pitchFamily="34" charset="-120"/>
              </a:rPr>
              <a:t>800</a:t>
            </a:r>
            <a:endParaRPr lang="en-US" sz="3200" dirty="0"/>
          </a:p>
        </p:txBody>
      </p:sp>
      <p:sp>
        <p:nvSpPr>
          <p:cNvPr id="12" name="Text 10"/>
          <p:cNvSpPr/>
          <p:nvPr/>
        </p:nvSpPr>
        <p:spPr>
          <a:xfrm>
            <a:off x="6455833" y="2666076"/>
            <a:ext cx="203191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projects; Linux alone is 22% of the data</a:t>
            </a:r>
            <a:endParaRPr lang="en-US" sz="1400" dirty="0"/>
          </a:p>
        </p:txBody>
      </p:sp>
      <p:sp>
        <p:nvSpPr>
          <p:cNvPr id="13" name="Shape 11"/>
          <p:cNvSpPr/>
          <p:nvPr/>
        </p:nvSpPr>
        <p:spPr>
          <a:xfrm>
            <a:off x="8893175" y="1928416"/>
            <a:ext cx="2482850" cy="1739437"/>
          </a:xfrm>
          <a:prstGeom prst="roundRect">
            <a:avLst>
              <a:gd name="adj" fmla="val 5658"/>
            </a:avLst>
          </a:prstGeom>
          <a:solidFill>
            <a:srgbClr val="FFFFFF"/>
          </a:solidFill>
          <a:ln w="6350">
            <a:solidFill>
              <a:srgbClr val="DDE3EA"/>
            </a:solidFill>
            <a:prstDash val="solid"/>
          </a:ln>
        </p:spPr>
      </p:sp>
      <p:sp>
        <p:nvSpPr>
          <p:cNvPr id="14" name="Text 12"/>
          <p:cNvSpPr/>
          <p:nvPr/>
        </p:nvSpPr>
        <p:spPr>
          <a:xfrm>
            <a:off x="9148234" y="2183476"/>
            <a:ext cx="20319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13D"/>
                </a:solidFill>
                <a:latin typeface="IBM Plex Sans" pitchFamily="34" charset="0"/>
                <a:ea typeface="IBM Plex Sans" pitchFamily="34" charset="-122"/>
                <a:cs typeface="IBM Plex Sans" pitchFamily="34" charset="-120"/>
              </a:rPr>
              <a:t>150</a:t>
            </a:r>
            <a:endParaRPr lang="en-US" sz="3200" dirty="0"/>
          </a:p>
        </p:txBody>
      </p:sp>
      <p:sp>
        <p:nvSpPr>
          <p:cNvPr id="15" name="Text 13"/>
          <p:cNvSpPr/>
          <p:nvPr/>
        </p:nvSpPr>
        <p:spPr>
          <a:xfrm>
            <a:off x="9148234" y="2666076"/>
            <a:ext cx="2031915"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bug types (CWEs); top one is out-of-bounds write</a:t>
            </a:r>
            <a:endParaRPr lang="en-US" sz="1400" dirty="0"/>
          </a:p>
        </p:txBody>
      </p:sp>
      <p:sp>
        <p:nvSpPr>
          <p:cNvPr id="16" name="Text 14"/>
          <p:cNvSpPr/>
          <p:nvPr/>
        </p:nvSpPr>
        <p:spPr>
          <a:xfrm>
            <a:off x="812800" y="4026629"/>
            <a:ext cx="113792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556"/>
                </a:solidFill>
                <a:latin typeface="IBM Plex Sans" pitchFamily="34" charset="0"/>
                <a:ea typeface="IBM Plex Sans" pitchFamily="34" charset="-122"/>
                <a:cs typeface="IBM Plex Sans" pitchFamily="34" charset="-120"/>
              </a:rPr>
              <a:t>How labels are made:</a:t>
            </a:r>
            <a:r>
              <a:rPr lang="en-US" sz="1600" dirty="0">
                <a:solidFill>
                  <a:srgbClr val="3A4556"/>
                </a:solidFill>
                <a:latin typeface="IBM Plex Sans" pitchFamily="34" charset="0"/>
                <a:ea typeface="IBM Plex Sans" pitchFamily="34" charset="-122"/>
                <a:cs typeface="IBM Plex Sans" pitchFamily="34" charset="-120"/>
              </a:rPr>
              <a:t> a function changed by a security-fix commit is “vulnerable” before the fix and “safe” after it.</a:t>
            </a:r>
            <a:endParaRPr lang="en-US" sz="1600" dirty="0"/>
          </a:p>
        </p:txBody>
      </p:sp>
      <p:sp>
        <p:nvSpPr>
          <p:cNvPr id="17" name="Text 15"/>
          <p:cNvSpPr/>
          <p:nvPr/>
        </p:nvSpPr>
        <p:spPr>
          <a:xfrm>
            <a:off x="812800" y="4412655"/>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556"/>
                </a:solidFill>
                <a:latin typeface="IBM Plex Sans" pitchFamily="34" charset="0"/>
                <a:ea typeface="IBM Plex Sans" pitchFamily="34" charset="-122"/>
                <a:cs typeface="IBM Plex Sans" pitchFamily="34" charset="-120"/>
              </a:rPr>
              <a:t>Why we use F1, not accuracy:</a:t>
            </a:r>
            <a:r>
              <a:rPr lang="en-US" sz="1600" dirty="0">
                <a:solidFill>
                  <a:srgbClr val="3A4556"/>
                </a:solidFill>
                <a:latin typeface="IBM Plex Sans" pitchFamily="34" charset="0"/>
                <a:ea typeface="IBM Plex Sans" pitchFamily="34" charset="-122"/>
                <a:cs typeface="IBM Plex Sans" pitchFamily="34" charset="-120"/>
              </a:rPr>
              <a:t> a model that always says “safe” is already 94% accurate.</a:t>
            </a:r>
            <a:endParaRPr lang="en-US" sz="16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A SURPRISE IN THE DATA</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Vulnerable functions are almost three times longer</a:t>
            </a:r>
            <a:endParaRPr lang="en-US" sz="3200" dirty="0"/>
          </a:p>
        </p:txBody>
      </p:sp>
      <p:sp>
        <p:nvSpPr>
          <p:cNvPr id="4" name="Shape 2"/>
          <p:cNvSpPr/>
          <p:nvPr/>
        </p:nvSpPr>
        <p:spPr>
          <a:xfrm>
            <a:off x="812800" y="1874441"/>
            <a:ext cx="5461000" cy="3683000"/>
          </a:xfrm>
          <a:prstGeom prst="roundRect">
            <a:avLst>
              <a:gd name="adj" fmla="val 2759"/>
            </a:avLst>
          </a:prstGeom>
          <a:solidFill>
            <a:srgbClr val="FFFFFF"/>
          </a:solidFill>
          <a:ln/>
        </p:spPr>
      </p:sp>
      <p:pic>
        <p:nvPicPr>
          <p:cNvPr id="5" name="Image 0" descr="Histogram of function length: safe functions peak around 10 lines, vulnerable functions are spread much wider">    </p:cNvPr>
          <p:cNvPicPr>
            <a:picLocks noChangeAspect="1"/>
          </p:cNvPicPr>
          <p:nvPr/>
        </p:nvPicPr>
        <p:blipFill>
          <a:blip r:embed="rId1"/>
          <a:stretch>
            <a:fillRect/>
          </a:stretch>
        </p:blipFill>
        <p:spPr>
          <a:xfrm>
            <a:off x="1096433" y="1880791"/>
            <a:ext cx="4893733" cy="3670300"/>
          </a:xfrm>
          <a:prstGeom prst="rect">
            <a:avLst/>
          </a:prstGeom>
        </p:spPr>
      </p:pic>
      <p:sp>
        <p:nvSpPr>
          <p:cNvPr id="6" name="Shape 3"/>
          <p:cNvSpPr/>
          <p:nvPr/>
        </p:nvSpPr>
        <p:spPr>
          <a:xfrm>
            <a:off x="815975" y="1877616"/>
            <a:ext cx="5454650" cy="3676650"/>
          </a:xfrm>
          <a:prstGeom prst="roundRect">
            <a:avLst>
              <a:gd name="adj" fmla="val 2677"/>
            </a:avLst>
          </a:prstGeom>
          <a:noFill/>
          <a:ln w="6350">
            <a:solidFill>
              <a:srgbClr val="DDE3EA"/>
            </a:solidFill>
            <a:prstDash val="solid"/>
          </a:ln>
        </p:spPr>
      </p:sp>
      <p:sp>
        <p:nvSpPr>
          <p:cNvPr id="7" name="Text 4"/>
          <p:cNvSpPr/>
          <p:nvPr/>
        </p:nvSpPr>
        <p:spPr>
          <a:xfrm>
            <a:off x="6629400" y="2527235"/>
            <a:ext cx="186486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B5491A"/>
                </a:solidFill>
                <a:latin typeface="IBM Plex Sans" pitchFamily="34" charset="0"/>
                <a:ea typeface="IBM Plex Sans" pitchFamily="34" charset="-122"/>
                <a:cs typeface="IBM Plex Sans" pitchFamily="34" charset="-120"/>
              </a:rPr>
              <a:t>50</a:t>
            </a:r>
            <a:endParaRPr lang="en-US" sz="4400" dirty="0"/>
          </a:p>
        </p:txBody>
      </p:sp>
      <p:sp>
        <p:nvSpPr>
          <p:cNvPr id="8" name="Text 5"/>
          <p:cNvSpPr/>
          <p:nvPr/>
        </p:nvSpPr>
        <p:spPr>
          <a:xfrm>
            <a:off x="6629400" y="3111435"/>
            <a:ext cx="206454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median lines, vulnerable</a:t>
            </a:r>
            <a:endParaRPr lang="en-US" sz="1300" dirty="0"/>
          </a:p>
        </p:txBody>
      </p:sp>
      <p:sp>
        <p:nvSpPr>
          <p:cNvPr id="9" name="Text 6"/>
          <p:cNvSpPr/>
          <p:nvPr/>
        </p:nvSpPr>
        <p:spPr>
          <a:xfrm>
            <a:off x="8693944" y="2527235"/>
            <a:ext cx="138965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F6FB0"/>
                </a:solidFill>
                <a:latin typeface="IBM Plex Sans" pitchFamily="34" charset="0"/>
                <a:ea typeface="IBM Plex Sans" pitchFamily="34" charset="-122"/>
                <a:cs typeface="IBM Plex Sans" pitchFamily="34" charset="-120"/>
              </a:rPr>
              <a:t>18</a:t>
            </a:r>
            <a:endParaRPr lang="en-US" sz="4400" dirty="0"/>
          </a:p>
        </p:txBody>
      </p:sp>
      <p:sp>
        <p:nvSpPr>
          <p:cNvPr id="10" name="Text 7"/>
          <p:cNvSpPr/>
          <p:nvPr/>
        </p:nvSpPr>
        <p:spPr>
          <a:xfrm>
            <a:off x="8693944" y="3111435"/>
            <a:ext cx="160662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median lines, safe</a:t>
            </a:r>
            <a:endParaRPr lang="en-US" sz="1300" dirty="0"/>
          </a:p>
        </p:txBody>
      </p:sp>
      <p:sp>
        <p:nvSpPr>
          <p:cNvPr id="11" name="Text 8"/>
          <p:cNvSpPr/>
          <p:nvPr/>
        </p:nvSpPr>
        <p:spPr>
          <a:xfrm>
            <a:off x="6629400" y="3571149"/>
            <a:ext cx="4892294"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A4556"/>
                </a:solidFill>
                <a:latin typeface="IBM Plex Sans" pitchFamily="34" charset="0"/>
                <a:ea typeface="IBM Plex Sans" pitchFamily="34" charset="-122"/>
                <a:cs typeface="IBM Plex Sans" pitchFamily="34" charset="-120"/>
              </a:rPr>
              <a:t>Shortcut risk:</a:t>
            </a:r>
            <a:r>
              <a:rPr lang="en-US" sz="1500" dirty="0">
                <a:solidFill>
                  <a:srgbClr val="3A4556"/>
                </a:solidFill>
                <a:latin typeface="IBM Plex Sans" pitchFamily="34" charset="0"/>
                <a:ea typeface="IBM Plex Sans" pitchFamily="34" charset="-122"/>
                <a:cs typeface="IBM Plex Sans" pitchFamily="34" charset="-120"/>
              </a:rPr>
              <a:t> a model can learn “long function = vulnerable” instead of the bug itself.</a:t>
            </a:r>
            <a:endParaRPr lang="en-US" sz="1500" dirty="0"/>
          </a:p>
        </p:txBody>
      </p:sp>
      <p:sp>
        <p:nvSpPr>
          <p:cNvPr id="12" name="Text 9"/>
          <p:cNvSpPr/>
          <p:nvPr/>
        </p:nvSpPr>
        <p:spPr>
          <a:xfrm>
            <a:off x="6629400" y="4352199"/>
            <a:ext cx="4892294"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A4556"/>
                </a:solidFill>
                <a:latin typeface="IBM Plex Sans" pitchFamily="34" charset="0"/>
                <a:ea typeface="IBM Plex Sans" pitchFamily="34" charset="-122"/>
                <a:cs typeface="IBM Plex Sans" pitchFamily="34" charset="-120"/>
              </a:rPr>
              <a:t>Truncation risk:</a:t>
            </a:r>
            <a:r>
              <a:rPr lang="en-US" sz="1500" dirty="0">
                <a:solidFill>
                  <a:srgbClr val="3A4556"/>
                </a:solidFill>
                <a:latin typeface="IBM Plex Sans" pitchFamily="34" charset="0"/>
                <a:ea typeface="IBM Plex Sans" pitchFamily="34" charset="-122"/>
                <a:cs typeface="IBM Plex Sans" pitchFamily="34" charset="-120"/>
              </a:rPr>
              <a:t> models read a fixed number of tokens, so the buggy line of a long function can be cut off.</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Seven steps from raw data to results</a:t>
            </a:r>
            <a:endParaRPr lang="en-US" sz="3200" dirty="0"/>
          </a:p>
        </p:txBody>
      </p:sp>
      <p:sp>
        <p:nvSpPr>
          <p:cNvPr id="4" name="Shape 2"/>
          <p:cNvSpPr/>
          <p:nvPr/>
        </p:nvSpPr>
        <p:spPr>
          <a:xfrm>
            <a:off x="812800" y="1977299"/>
            <a:ext cx="2222500" cy="919427"/>
          </a:xfrm>
          <a:prstGeom prst="roundRect">
            <a:avLst>
              <a:gd name="adj" fmla="val 11050"/>
            </a:avLst>
          </a:prstGeom>
          <a:solidFill>
            <a:srgbClr val="DCE8F6"/>
          </a:solidFill>
          <a:ln/>
        </p:spPr>
      </p:sp>
      <p:sp>
        <p:nvSpPr>
          <p:cNvPr id="5" name="Text 3"/>
          <p:cNvSpPr/>
          <p:nvPr/>
        </p:nvSpPr>
        <p:spPr>
          <a:xfrm>
            <a:off x="1016000" y="2180499"/>
            <a:ext cx="187058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1. Download</a:t>
            </a:r>
            <a:endParaRPr lang="en-US" sz="1600" dirty="0"/>
          </a:p>
        </p:txBody>
      </p:sp>
      <p:sp>
        <p:nvSpPr>
          <p:cNvPr id="6" name="Text 4"/>
          <p:cNvSpPr/>
          <p:nvPr/>
        </p:nvSpPr>
        <p:spPr>
          <a:xfrm>
            <a:off x="1016000" y="2487811"/>
            <a:ext cx="187058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DiverseVul, 737 MB</a:t>
            </a:r>
            <a:endParaRPr lang="en-US" sz="1200" dirty="0"/>
          </a:p>
        </p:txBody>
      </p:sp>
      <p:pic>
        <p:nvPicPr>
          <p:cNvPr id="7" name="Image 0" descr="arrow-right">    </p:cNvPr>
          <p:cNvPicPr>
            <a:picLocks noChangeAspect="1"/>
          </p:cNvPicPr>
          <p:nvPr/>
        </p:nvPicPr>
        <p:blipFill>
          <a:blip r:embed="rId1"/>
          <a:srcRect l="0" r="0" t="0" b="0"/>
          <a:stretch/>
        </p:blipFill>
        <p:spPr>
          <a:xfrm>
            <a:off x="3162300" y="2348111"/>
            <a:ext cx="304800" cy="177800"/>
          </a:xfrm>
          <a:prstGeom prst="rect">
            <a:avLst/>
          </a:prstGeom>
        </p:spPr>
      </p:pic>
      <p:sp>
        <p:nvSpPr>
          <p:cNvPr id="8" name="Shape 5"/>
          <p:cNvSpPr/>
          <p:nvPr/>
        </p:nvSpPr>
        <p:spPr>
          <a:xfrm>
            <a:off x="3594100" y="1977299"/>
            <a:ext cx="2222500" cy="919427"/>
          </a:xfrm>
          <a:prstGeom prst="roundRect">
            <a:avLst>
              <a:gd name="adj" fmla="val 11050"/>
            </a:avLst>
          </a:prstGeom>
          <a:solidFill>
            <a:srgbClr val="DCE8F6"/>
          </a:solidFill>
          <a:ln/>
        </p:spPr>
      </p:sp>
      <p:sp>
        <p:nvSpPr>
          <p:cNvPr id="9" name="Text 6"/>
          <p:cNvSpPr/>
          <p:nvPr/>
        </p:nvSpPr>
        <p:spPr>
          <a:xfrm>
            <a:off x="3797300" y="2180499"/>
            <a:ext cx="187058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2. Explore</a:t>
            </a:r>
            <a:endParaRPr lang="en-US" sz="1600" dirty="0"/>
          </a:p>
        </p:txBody>
      </p:sp>
      <p:sp>
        <p:nvSpPr>
          <p:cNvPr id="10" name="Text 7"/>
          <p:cNvSpPr/>
          <p:nvPr/>
        </p:nvSpPr>
        <p:spPr>
          <a:xfrm>
            <a:off x="3797300" y="2487811"/>
            <a:ext cx="187058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counts, projects, lengths</a:t>
            </a:r>
            <a:endParaRPr lang="en-US" sz="1200" dirty="0"/>
          </a:p>
        </p:txBody>
      </p:sp>
      <p:pic>
        <p:nvPicPr>
          <p:cNvPr id="11" name="Image 1" descr="arrow-right">    </p:cNvPr>
          <p:cNvPicPr>
            <a:picLocks noChangeAspect="1"/>
          </p:cNvPicPr>
          <p:nvPr/>
        </p:nvPicPr>
        <p:blipFill>
          <a:blip r:embed="rId2"/>
          <a:srcRect l="0" r="0" t="0" b="0"/>
          <a:stretch/>
        </p:blipFill>
        <p:spPr>
          <a:xfrm>
            <a:off x="5943600" y="2348111"/>
            <a:ext cx="304800" cy="177800"/>
          </a:xfrm>
          <a:prstGeom prst="rect">
            <a:avLst/>
          </a:prstGeom>
        </p:spPr>
      </p:pic>
      <p:sp>
        <p:nvSpPr>
          <p:cNvPr id="12" name="Shape 8"/>
          <p:cNvSpPr/>
          <p:nvPr/>
        </p:nvSpPr>
        <p:spPr>
          <a:xfrm>
            <a:off x="6375400" y="1977299"/>
            <a:ext cx="2222500" cy="919427"/>
          </a:xfrm>
          <a:prstGeom prst="roundRect">
            <a:avLst>
              <a:gd name="adj" fmla="val 11050"/>
            </a:avLst>
          </a:prstGeom>
          <a:solidFill>
            <a:srgbClr val="DCE8F6"/>
          </a:solidFill>
          <a:ln/>
        </p:spPr>
      </p:sp>
      <p:sp>
        <p:nvSpPr>
          <p:cNvPr id="13" name="Text 9"/>
          <p:cNvSpPr/>
          <p:nvPr/>
        </p:nvSpPr>
        <p:spPr>
          <a:xfrm>
            <a:off x="6578600" y="2180499"/>
            <a:ext cx="187058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3. Clean</a:t>
            </a:r>
            <a:endParaRPr lang="en-US" sz="1600" dirty="0"/>
          </a:p>
        </p:txBody>
      </p:sp>
      <p:sp>
        <p:nvSpPr>
          <p:cNvPr id="14" name="Text 10"/>
          <p:cNvSpPr/>
          <p:nvPr/>
        </p:nvSpPr>
        <p:spPr>
          <a:xfrm>
            <a:off x="6578600" y="2487811"/>
            <a:ext cx="187058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Improvement A</a:t>
            </a:r>
            <a:endParaRPr lang="en-US" sz="1200" dirty="0"/>
          </a:p>
        </p:txBody>
      </p:sp>
      <p:pic>
        <p:nvPicPr>
          <p:cNvPr id="15" name="Image 2" descr="arrow-right">    </p:cNvPr>
          <p:cNvPicPr>
            <a:picLocks noChangeAspect="1"/>
          </p:cNvPicPr>
          <p:nvPr/>
        </p:nvPicPr>
        <p:blipFill>
          <a:blip r:embed="rId3"/>
          <a:srcRect l="0" r="0" t="0" b="0"/>
          <a:stretch/>
        </p:blipFill>
        <p:spPr>
          <a:xfrm>
            <a:off x="8724900" y="2348111"/>
            <a:ext cx="304800" cy="177800"/>
          </a:xfrm>
          <a:prstGeom prst="rect">
            <a:avLst/>
          </a:prstGeom>
        </p:spPr>
      </p:pic>
      <p:sp>
        <p:nvSpPr>
          <p:cNvPr id="16" name="Shape 11"/>
          <p:cNvSpPr/>
          <p:nvPr/>
        </p:nvSpPr>
        <p:spPr>
          <a:xfrm>
            <a:off x="9156700" y="1874441"/>
            <a:ext cx="2222500" cy="1125141"/>
          </a:xfrm>
          <a:prstGeom prst="roundRect">
            <a:avLst>
              <a:gd name="adj" fmla="val 9030"/>
            </a:avLst>
          </a:prstGeom>
          <a:solidFill>
            <a:srgbClr val="FBE3D3"/>
          </a:solidFill>
          <a:ln/>
        </p:spPr>
      </p:sp>
      <p:sp>
        <p:nvSpPr>
          <p:cNvPr id="17" name="Text 12"/>
          <p:cNvSpPr/>
          <p:nvPr/>
        </p:nvSpPr>
        <p:spPr>
          <a:xfrm>
            <a:off x="9359900" y="2077641"/>
            <a:ext cx="187058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4. Split</a:t>
            </a:r>
            <a:endParaRPr lang="en-US" sz="1600" dirty="0"/>
          </a:p>
        </p:txBody>
      </p:sp>
      <p:sp>
        <p:nvSpPr>
          <p:cNvPr id="18" name="Text 13"/>
          <p:cNvSpPr/>
          <p:nvPr/>
        </p:nvSpPr>
        <p:spPr>
          <a:xfrm>
            <a:off x="9359900" y="2384955"/>
            <a:ext cx="187058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random or unseen projects</a:t>
            </a:r>
            <a:endParaRPr lang="en-US" sz="1200" dirty="0"/>
          </a:p>
        </p:txBody>
      </p:sp>
      <p:sp>
        <p:nvSpPr>
          <p:cNvPr id="19" name="Shape 14"/>
          <p:cNvSpPr/>
          <p:nvPr/>
        </p:nvSpPr>
        <p:spPr>
          <a:xfrm>
            <a:off x="812800" y="3253581"/>
            <a:ext cx="3149600" cy="919427"/>
          </a:xfrm>
          <a:prstGeom prst="roundRect">
            <a:avLst>
              <a:gd name="adj" fmla="val 11050"/>
            </a:avLst>
          </a:prstGeom>
          <a:solidFill>
            <a:srgbClr val="FBE3D3"/>
          </a:solidFill>
          <a:ln/>
        </p:spPr>
      </p:sp>
      <p:sp>
        <p:nvSpPr>
          <p:cNvPr id="20" name="Text 15"/>
          <p:cNvSpPr/>
          <p:nvPr/>
        </p:nvSpPr>
        <p:spPr>
          <a:xfrm>
            <a:off x="1016000" y="3456781"/>
            <a:ext cx="282549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5. Rename?</a:t>
            </a:r>
            <a:endParaRPr lang="en-US" sz="1600" dirty="0"/>
          </a:p>
        </p:txBody>
      </p:sp>
      <p:sp>
        <p:nvSpPr>
          <p:cNvPr id="21" name="Text 16"/>
          <p:cNvSpPr/>
          <p:nvPr/>
        </p:nvSpPr>
        <p:spPr>
          <a:xfrm>
            <a:off x="1016000" y="3764096"/>
            <a:ext cx="282549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Improvement B, optional</a:t>
            </a:r>
            <a:endParaRPr lang="en-US" sz="1200" dirty="0"/>
          </a:p>
        </p:txBody>
      </p:sp>
      <p:pic>
        <p:nvPicPr>
          <p:cNvPr id="22" name="Image 3" descr="arrow-right">    </p:cNvPr>
          <p:cNvPicPr>
            <a:picLocks noChangeAspect="1"/>
          </p:cNvPicPr>
          <p:nvPr/>
        </p:nvPicPr>
        <p:blipFill>
          <a:blip r:embed="rId4"/>
          <a:srcRect l="0" r="0" t="0" b="0"/>
          <a:stretch/>
        </p:blipFill>
        <p:spPr>
          <a:xfrm>
            <a:off x="4089400" y="3624396"/>
            <a:ext cx="304800" cy="177800"/>
          </a:xfrm>
          <a:prstGeom prst="rect">
            <a:avLst/>
          </a:prstGeom>
        </p:spPr>
      </p:pic>
      <p:sp>
        <p:nvSpPr>
          <p:cNvPr id="23" name="Shape 17"/>
          <p:cNvSpPr/>
          <p:nvPr/>
        </p:nvSpPr>
        <p:spPr>
          <a:xfrm>
            <a:off x="4521200" y="3253581"/>
            <a:ext cx="3149600" cy="919427"/>
          </a:xfrm>
          <a:prstGeom prst="roundRect">
            <a:avLst>
              <a:gd name="adj" fmla="val 11050"/>
            </a:avLst>
          </a:prstGeom>
          <a:solidFill>
            <a:srgbClr val="FBE3D3"/>
          </a:solidFill>
          <a:ln/>
        </p:spPr>
      </p:sp>
      <p:sp>
        <p:nvSpPr>
          <p:cNvPr id="24" name="Text 18"/>
          <p:cNvSpPr/>
          <p:nvPr/>
        </p:nvSpPr>
        <p:spPr>
          <a:xfrm>
            <a:off x="4724400" y="3456781"/>
            <a:ext cx="282549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6. Train</a:t>
            </a:r>
            <a:endParaRPr lang="en-US" sz="1600" dirty="0"/>
          </a:p>
        </p:txBody>
      </p:sp>
      <p:sp>
        <p:nvSpPr>
          <p:cNvPr id="25" name="Text 19"/>
          <p:cNvSpPr/>
          <p:nvPr/>
        </p:nvSpPr>
        <p:spPr>
          <a:xfrm>
            <a:off x="4724400" y="3764096"/>
            <a:ext cx="282549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CodeT5-Small on a Colab T4 GPU</a:t>
            </a:r>
            <a:endParaRPr lang="en-US" sz="1200" dirty="0"/>
          </a:p>
        </p:txBody>
      </p:sp>
      <p:pic>
        <p:nvPicPr>
          <p:cNvPr id="26" name="Image 4" descr="arrow-right">    </p:cNvPr>
          <p:cNvPicPr>
            <a:picLocks noChangeAspect="1"/>
          </p:cNvPicPr>
          <p:nvPr/>
        </p:nvPicPr>
        <p:blipFill>
          <a:blip r:embed="rId5"/>
          <a:srcRect l="0" r="0" t="0" b="0"/>
          <a:stretch/>
        </p:blipFill>
        <p:spPr>
          <a:xfrm>
            <a:off x="7797800" y="3624396"/>
            <a:ext cx="304800" cy="177800"/>
          </a:xfrm>
          <a:prstGeom prst="rect">
            <a:avLst/>
          </a:prstGeom>
        </p:spPr>
      </p:pic>
      <p:sp>
        <p:nvSpPr>
          <p:cNvPr id="27" name="Shape 20"/>
          <p:cNvSpPr/>
          <p:nvPr/>
        </p:nvSpPr>
        <p:spPr>
          <a:xfrm>
            <a:off x="8229600" y="3253581"/>
            <a:ext cx="3149600" cy="919427"/>
          </a:xfrm>
          <a:prstGeom prst="roundRect">
            <a:avLst>
              <a:gd name="adj" fmla="val 11050"/>
            </a:avLst>
          </a:prstGeom>
          <a:solidFill>
            <a:srgbClr val="FBE3D3"/>
          </a:solidFill>
          <a:ln/>
        </p:spPr>
      </p:sp>
      <p:sp>
        <p:nvSpPr>
          <p:cNvPr id="28" name="Text 21"/>
          <p:cNvSpPr/>
          <p:nvPr/>
        </p:nvSpPr>
        <p:spPr>
          <a:xfrm>
            <a:off x="8432800" y="3456781"/>
            <a:ext cx="282549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7. Evaluate</a:t>
            </a:r>
            <a:endParaRPr lang="en-US" sz="1600" dirty="0"/>
          </a:p>
        </p:txBody>
      </p:sp>
      <p:sp>
        <p:nvSpPr>
          <p:cNvPr id="29" name="Text 22"/>
          <p:cNvSpPr/>
          <p:nvPr/>
        </p:nvSpPr>
        <p:spPr>
          <a:xfrm>
            <a:off x="8432800" y="3764096"/>
            <a:ext cx="282549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threshold on validation, scores on test</a:t>
            </a:r>
            <a:endParaRPr lang="en-US" sz="1200" dirty="0"/>
          </a:p>
        </p:txBody>
      </p:sp>
      <p:sp>
        <p:nvSpPr>
          <p:cNvPr id="30" name="Text 23"/>
          <p:cNvSpPr/>
          <p:nvPr/>
        </p:nvSpPr>
        <p:spPr>
          <a:xfrm>
            <a:off x="812800" y="4477810"/>
            <a:ext cx="301115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6FB0"/>
                </a:solidFill>
                <a:latin typeface="IBM Plex Sans" pitchFamily="34" charset="0"/>
                <a:ea typeface="IBM Plex Sans" pitchFamily="34" charset="-122"/>
                <a:cs typeface="IBM Plex Sans" pitchFamily="34" charset="-120"/>
              </a:rPr>
              <a:t>■</a:t>
            </a:r>
            <a:r>
              <a:rPr lang="en-US" sz="1300" dirty="0">
                <a:solidFill>
                  <a:srgbClr val="3A4556"/>
                </a:solidFill>
                <a:latin typeface="IBM Plex Sans" pitchFamily="34" charset="0"/>
                <a:ea typeface="IBM Plex Sans" pitchFamily="34" charset="-122"/>
                <a:cs typeface="IBM Plex Sans" pitchFamily="34" charset="-120"/>
              </a:rPr>
              <a:t> Blue: data preparation, laptop CPU</a:t>
            </a:r>
            <a:endParaRPr lang="en-US" sz="1300" dirty="0"/>
          </a:p>
        </p:txBody>
      </p:sp>
      <p:sp>
        <p:nvSpPr>
          <p:cNvPr id="31" name="Text 24"/>
          <p:cNvSpPr/>
          <p:nvPr/>
        </p:nvSpPr>
        <p:spPr>
          <a:xfrm>
            <a:off x="3823957" y="4477810"/>
            <a:ext cx="493442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622B"/>
                </a:solidFill>
                <a:latin typeface="IBM Plex Sans" pitchFamily="34" charset="0"/>
                <a:ea typeface="IBM Plex Sans" pitchFamily="34" charset="-122"/>
                <a:cs typeface="IBM Plex Sans" pitchFamily="34" charset="-120"/>
              </a:rPr>
              <a:t>■</a:t>
            </a:r>
            <a:r>
              <a:rPr lang="en-US" sz="1300" dirty="0">
                <a:solidFill>
                  <a:srgbClr val="3A4556"/>
                </a:solidFill>
                <a:latin typeface="IBM Plex Sans" pitchFamily="34" charset="0"/>
                <a:ea typeface="IBM Plex Sans" pitchFamily="34" charset="-122"/>
                <a:cs typeface="IBM Plex Sans" pitchFamily="34" charset="-120"/>
              </a:rPr>
              <a:t> Orange: experiments, Google Colab GPU (run 4 times)</a:t>
            </a:r>
            <a:endParaRPr lang="en-US" sz="1300" dirty="0"/>
          </a:p>
        </p:txBody>
      </p:sp>
      <p:sp>
        <p:nvSpPr>
          <p:cNvPr id="32"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IMPROVEMENT A · DATA CLEANING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Find duplicates that hide behind formatting</a:t>
            </a:r>
            <a:endParaRPr lang="en-US" sz="3200" dirty="0"/>
          </a:p>
        </p:txBody>
      </p:sp>
      <p:sp>
        <p:nvSpPr>
          <p:cNvPr id="4" name="Shape 2"/>
          <p:cNvSpPr/>
          <p:nvPr/>
        </p:nvSpPr>
        <p:spPr>
          <a:xfrm>
            <a:off x="815975" y="1877616"/>
            <a:ext cx="2520950" cy="1597157"/>
          </a:xfrm>
          <a:prstGeom prst="roundRect">
            <a:avLst>
              <a:gd name="adj" fmla="val 6163"/>
            </a:avLst>
          </a:prstGeom>
          <a:solidFill>
            <a:srgbClr val="FFFFFF"/>
          </a:solidFill>
          <a:ln w="6350">
            <a:solidFill>
              <a:srgbClr val="DDE3EA"/>
            </a:solidFill>
            <a:prstDash val="solid"/>
          </a:ln>
        </p:spPr>
      </p:sp>
      <p:sp>
        <p:nvSpPr>
          <p:cNvPr id="5" name="Text 3"/>
          <p:cNvSpPr/>
          <p:nvPr/>
        </p:nvSpPr>
        <p:spPr>
          <a:xfrm>
            <a:off x="1045633" y="2107276"/>
            <a:ext cx="2123482"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F6FB0"/>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045633" y="2462876"/>
            <a:ext cx="212348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Normalize</a:t>
            </a:r>
            <a:endParaRPr lang="en-US" sz="1600" dirty="0"/>
          </a:p>
        </p:txBody>
      </p:sp>
      <p:sp>
        <p:nvSpPr>
          <p:cNvPr id="7" name="Text 5"/>
          <p:cNvSpPr/>
          <p:nvPr/>
        </p:nvSpPr>
        <p:spPr>
          <a:xfrm>
            <a:off x="1045633" y="2782888"/>
            <a:ext cx="212348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Delete comments and all whitespace</a:t>
            </a:r>
            <a:endParaRPr lang="en-US" sz="1300" dirty="0"/>
          </a:p>
        </p:txBody>
      </p:sp>
      <p:sp>
        <p:nvSpPr>
          <p:cNvPr id="8" name="Shape 6"/>
          <p:cNvSpPr/>
          <p:nvPr/>
        </p:nvSpPr>
        <p:spPr>
          <a:xfrm>
            <a:off x="3495675" y="1877616"/>
            <a:ext cx="2520950" cy="1597157"/>
          </a:xfrm>
          <a:prstGeom prst="roundRect">
            <a:avLst>
              <a:gd name="adj" fmla="val 6163"/>
            </a:avLst>
          </a:prstGeom>
          <a:solidFill>
            <a:srgbClr val="FFFFFF"/>
          </a:solidFill>
          <a:ln w="6350">
            <a:solidFill>
              <a:srgbClr val="DDE3EA"/>
            </a:solidFill>
            <a:prstDash val="solid"/>
          </a:ln>
        </p:spPr>
      </p:sp>
      <p:sp>
        <p:nvSpPr>
          <p:cNvPr id="9" name="Text 7"/>
          <p:cNvSpPr/>
          <p:nvPr/>
        </p:nvSpPr>
        <p:spPr>
          <a:xfrm>
            <a:off x="3725333" y="2107276"/>
            <a:ext cx="2123482"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F6FB0"/>
                </a:solidFill>
                <a:latin typeface="IBM Plex Sans" pitchFamily="34" charset="0"/>
                <a:ea typeface="IBM Plex Sans" pitchFamily="34" charset="-122"/>
                <a:cs typeface="IBM Plex Sans" pitchFamily="34" charset="-120"/>
              </a:rPr>
              <a:t>2</a:t>
            </a:r>
            <a:endParaRPr lang="en-US" sz="2200" dirty="0"/>
          </a:p>
        </p:txBody>
      </p:sp>
      <p:sp>
        <p:nvSpPr>
          <p:cNvPr id="10" name="Text 8"/>
          <p:cNvSpPr/>
          <p:nvPr/>
        </p:nvSpPr>
        <p:spPr>
          <a:xfrm>
            <a:off x="3725333" y="2462876"/>
            <a:ext cx="212348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Group</a:t>
            </a:r>
            <a:endParaRPr lang="en-US" sz="1600" dirty="0"/>
          </a:p>
        </p:txBody>
      </p:sp>
      <p:sp>
        <p:nvSpPr>
          <p:cNvPr id="11" name="Text 9"/>
          <p:cNvSpPr/>
          <p:nvPr/>
        </p:nvSpPr>
        <p:spPr>
          <a:xfrm>
            <a:off x="3725333" y="2782888"/>
            <a:ext cx="212348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Functions with identical normalized text</a:t>
            </a:r>
            <a:endParaRPr lang="en-US" sz="1300" dirty="0"/>
          </a:p>
        </p:txBody>
      </p:sp>
      <p:sp>
        <p:nvSpPr>
          <p:cNvPr id="12" name="Shape 10"/>
          <p:cNvSpPr/>
          <p:nvPr/>
        </p:nvSpPr>
        <p:spPr>
          <a:xfrm>
            <a:off x="6175375" y="1877616"/>
            <a:ext cx="2520950" cy="1597157"/>
          </a:xfrm>
          <a:prstGeom prst="roundRect">
            <a:avLst>
              <a:gd name="adj" fmla="val 6163"/>
            </a:avLst>
          </a:prstGeom>
          <a:solidFill>
            <a:srgbClr val="FFFFFF"/>
          </a:solidFill>
          <a:ln w="6350">
            <a:solidFill>
              <a:srgbClr val="DDE3EA"/>
            </a:solidFill>
            <a:prstDash val="solid"/>
          </a:ln>
        </p:spPr>
      </p:sp>
      <p:sp>
        <p:nvSpPr>
          <p:cNvPr id="13" name="Text 11"/>
          <p:cNvSpPr/>
          <p:nvPr/>
        </p:nvSpPr>
        <p:spPr>
          <a:xfrm>
            <a:off x="6405033" y="2107276"/>
            <a:ext cx="2123482"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B5491A"/>
                </a:solidFill>
                <a:latin typeface="IBM Plex Sans" pitchFamily="34" charset="0"/>
                <a:ea typeface="IBM Plex Sans" pitchFamily="34" charset="-122"/>
                <a:cs typeface="IBM Plex Sans" pitchFamily="34" charset="-120"/>
              </a:rPr>
              <a:t>3</a:t>
            </a:r>
            <a:endParaRPr lang="en-US" sz="2200" dirty="0"/>
          </a:p>
        </p:txBody>
      </p:sp>
      <p:sp>
        <p:nvSpPr>
          <p:cNvPr id="14" name="Text 12"/>
          <p:cNvSpPr/>
          <p:nvPr/>
        </p:nvSpPr>
        <p:spPr>
          <a:xfrm>
            <a:off x="6405033" y="2462876"/>
            <a:ext cx="212348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Drop conflicts</a:t>
            </a:r>
            <a:endParaRPr lang="en-US" sz="1600" dirty="0"/>
          </a:p>
        </p:txBody>
      </p:sp>
      <p:sp>
        <p:nvSpPr>
          <p:cNvPr id="15" name="Text 13"/>
          <p:cNvSpPr/>
          <p:nvPr/>
        </p:nvSpPr>
        <p:spPr>
          <a:xfrm>
            <a:off x="6405033" y="2782888"/>
            <a:ext cx="212348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Same code with both labels? Remove the group</a:t>
            </a:r>
            <a:endParaRPr lang="en-US" sz="1300" dirty="0"/>
          </a:p>
        </p:txBody>
      </p:sp>
      <p:sp>
        <p:nvSpPr>
          <p:cNvPr id="16" name="Shape 14"/>
          <p:cNvSpPr/>
          <p:nvPr/>
        </p:nvSpPr>
        <p:spPr>
          <a:xfrm>
            <a:off x="8855075" y="1877616"/>
            <a:ext cx="2520950" cy="1597157"/>
          </a:xfrm>
          <a:prstGeom prst="roundRect">
            <a:avLst>
              <a:gd name="adj" fmla="val 6163"/>
            </a:avLst>
          </a:prstGeom>
          <a:solidFill>
            <a:srgbClr val="FFFFFF"/>
          </a:solidFill>
          <a:ln w="6350">
            <a:solidFill>
              <a:srgbClr val="DDE3EA"/>
            </a:solidFill>
            <a:prstDash val="solid"/>
          </a:ln>
        </p:spPr>
      </p:sp>
      <p:sp>
        <p:nvSpPr>
          <p:cNvPr id="17" name="Text 15"/>
          <p:cNvSpPr/>
          <p:nvPr/>
        </p:nvSpPr>
        <p:spPr>
          <a:xfrm>
            <a:off x="9084734" y="2107276"/>
            <a:ext cx="2123482"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F6FB0"/>
                </a:solidFill>
                <a:latin typeface="IBM Plex Sans" pitchFamily="34" charset="0"/>
                <a:ea typeface="IBM Plex Sans" pitchFamily="34" charset="-122"/>
                <a:cs typeface="IBM Plex Sans" pitchFamily="34" charset="-120"/>
              </a:rPr>
              <a:t>4</a:t>
            </a:r>
            <a:endParaRPr lang="en-US" sz="2200" dirty="0"/>
          </a:p>
        </p:txBody>
      </p:sp>
      <p:sp>
        <p:nvSpPr>
          <p:cNvPr id="18" name="Text 16"/>
          <p:cNvSpPr/>
          <p:nvPr/>
        </p:nvSpPr>
        <p:spPr>
          <a:xfrm>
            <a:off x="9084734" y="2462876"/>
            <a:ext cx="212348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Keep one</a:t>
            </a:r>
            <a:endParaRPr lang="en-US" sz="1600" dirty="0"/>
          </a:p>
        </p:txBody>
      </p:sp>
      <p:sp>
        <p:nvSpPr>
          <p:cNvPr id="19" name="Text 17"/>
          <p:cNvSpPr/>
          <p:nvPr/>
        </p:nvSpPr>
        <p:spPr>
          <a:xfrm>
            <a:off x="9084734" y="2782888"/>
            <a:ext cx="212348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One copy of every other group</a:t>
            </a:r>
            <a:endParaRPr lang="en-US" sz="1300" dirty="0"/>
          </a:p>
        </p:txBody>
      </p:sp>
      <p:sp>
        <p:nvSpPr>
          <p:cNvPr id="20" name="Shape 18"/>
          <p:cNvSpPr/>
          <p:nvPr/>
        </p:nvSpPr>
        <p:spPr>
          <a:xfrm>
            <a:off x="812800" y="3782749"/>
            <a:ext cx="10566400" cy="1116277"/>
          </a:xfrm>
          <a:prstGeom prst="roundRect">
            <a:avLst>
              <a:gd name="adj" fmla="val 9102"/>
            </a:avLst>
          </a:prstGeom>
          <a:solidFill>
            <a:srgbClr val="14213D"/>
          </a:solidFill>
          <a:ln/>
        </p:spPr>
      </p:sp>
      <p:sp>
        <p:nvSpPr>
          <p:cNvPr id="21" name="Text 19"/>
          <p:cNvSpPr/>
          <p:nvPr/>
        </p:nvSpPr>
        <p:spPr>
          <a:xfrm>
            <a:off x="1117600" y="4036752"/>
            <a:ext cx="1025550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4E3"/>
                </a:solidFill>
                <a:latin typeface="IBM Plex Sans" pitchFamily="34" charset="0"/>
                <a:ea typeface="IBM Plex Sans" pitchFamily="34" charset="-122"/>
                <a:cs typeface="IBM Plex Sans" pitchFamily="34" charset="-120"/>
              </a:rPr>
              <a:t>Why it matters: a commit that only re-formats code creates a label error</a:t>
            </a:r>
            <a:endParaRPr lang="en-US" sz="1400" dirty="0"/>
          </a:p>
        </p:txBody>
      </p:sp>
      <p:sp>
        <p:nvSpPr>
          <p:cNvPr id="22" name="Text 20"/>
          <p:cNvSpPr/>
          <p:nvPr/>
        </p:nvSpPr>
        <p:spPr>
          <a:xfrm>
            <a:off x="1117600" y="4387255"/>
            <a:ext cx="10255504"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7F6F2"/>
                </a:solidFill>
                <a:latin typeface="IBM Plex Sans" pitchFamily="34" charset="0"/>
                <a:ea typeface="IBM Plex Sans" pitchFamily="34" charset="-122"/>
                <a:cs typeface="IBM Plex Sans" pitchFamily="34" charset="-120"/>
              </a:rPr>
              <a:t>before the commit → labelled </a:t>
            </a:r>
            <a:r>
              <a:rPr lang="en-US" sz="1400" b="1" dirty="0">
                <a:solidFill>
                  <a:srgbClr val="F7F6F2"/>
                </a:solidFill>
                <a:latin typeface="IBM Plex Sans" pitchFamily="34" charset="0"/>
                <a:ea typeface="IBM Plex Sans" pitchFamily="34" charset="-122"/>
                <a:cs typeface="IBM Plex Sans" pitchFamily="34" charset="-120"/>
              </a:rPr>
              <a:t>vulnerable</a:t>
            </a:r>
            <a:r>
              <a:rPr lang="en-US" sz="1400" dirty="0">
                <a:solidFill>
                  <a:srgbClr val="F7F6F2"/>
                </a:solidFill>
                <a:latin typeface="IBM Plex Sans" pitchFamily="34" charset="0"/>
                <a:ea typeface="IBM Plex Sans" pitchFamily="34" charset="-122"/>
                <a:cs typeface="IBM Plex Sans" pitchFamily="34" charset="-120"/>
              </a:rPr>
              <a:t> · after the commit → labelled </a:t>
            </a:r>
            <a:r>
              <a:rPr lang="en-US" sz="1400" b="1" dirty="0">
                <a:solidFill>
                  <a:srgbClr val="F7F6F2"/>
                </a:solidFill>
                <a:latin typeface="IBM Plex Sans" pitchFamily="34" charset="0"/>
                <a:ea typeface="IBM Plex Sans" pitchFamily="34" charset="-122"/>
                <a:cs typeface="IBM Plex Sans" pitchFamily="34" charset="-120"/>
              </a:rPr>
              <a:t>safe</a:t>
            </a:r>
            <a:r>
              <a:rPr lang="en-US" sz="1400" dirty="0">
                <a:solidFill>
                  <a:srgbClr val="F7F6F2"/>
                </a:solidFill>
                <a:latin typeface="IBM Plex Sans" pitchFamily="34" charset="0"/>
                <a:ea typeface="IBM Plex Sans" pitchFamily="34" charset="-122"/>
                <a:cs typeface="IBM Plex Sans" pitchFamily="34" charset="-120"/>
              </a:rPr>
              <a:t> · the code is the </a:t>
            </a:r>
            <a:r>
              <a:rPr lang="en-US" sz="1400" b="1" dirty="0">
                <a:solidFill>
                  <a:srgbClr val="F7F6F2"/>
                </a:solidFill>
                <a:latin typeface="IBM Plex Sans" pitchFamily="34" charset="0"/>
                <a:ea typeface="IBM Plex Sans" pitchFamily="34" charset="-122"/>
                <a:cs typeface="IBM Plex Sans" pitchFamily="34" charset="-120"/>
              </a:rPr>
              <a:t>same</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RQ1 · RESULT</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Hundreds of labels contradict each other</a:t>
            </a:r>
            <a:endParaRPr lang="en-US" sz="3200" dirty="0"/>
          </a:p>
        </p:txBody>
      </p:sp>
      <p:sp>
        <p:nvSpPr>
          <p:cNvPr id="4" name="Text 2"/>
          <p:cNvSpPr/>
          <p:nvPr/>
        </p:nvSpPr>
        <p:spPr>
          <a:xfrm>
            <a:off x="812800" y="1913533"/>
            <a:ext cx="3151227"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B5491A"/>
                </a:solidFill>
                <a:latin typeface="IBM Plex Sans" pitchFamily="34" charset="0"/>
                <a:ea typeface="IBM Plex Sans" pitchFamily="34" charset="-122"/>
                <a:cs typeface="IBM Plex Sans" pitchFamily="34" charset="-120"/>
              </a:rPr>
              <a:t>901</a:t>
            </a:r>
            <a:endParaRPr lang="en-US" sz="9000" dirty="0"/>
          </a:p>
        </p:txBody>
      </p:sp>
      <p:sp>
        <p:nvSpPr>
          <p:cNvPr id="5" name="Text 3"/>
          <p:cNvSpPr/>
          <p:nvPr/>
        </p:nvSpPr>
        <p:spPr>
          <a:xfrm>
            <a:off x="812800" y="3132733"/>
            <a:ext cx="315122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wrong “vulnerable” labels</a:t>
            </a:r>
            <a:endParaRPr lang="en-US" sz="1600" dirty="0"/>
          </a:p>
        </p:txBody>
      </p:sp>
      <p:sp>
        <p:nvSpPr>
          <p:cNvPr id="6" name="Text 4"/>
          <p:cNvSpPr/>
          <p:nvPr/>
        </p:nvSpPr>
        <p:spPr>
          <a:xfrm>
            <a:off x="812800" y="3493362"/>
            <a:ext cx="347854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 4.8% of all vulnerable functions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291343" y="1887141"/>
          <a:ext cx="7087857" cy="1929805"/>
        </p:xfrm>
        <a:graphic>
          <a:graphicData uri="http://schemas.openxmlformats.org/drawingml/2006/table">
            <a:tbl>
              <a:tblPr/>
              <a:tblGrid>
                <a:gridCol w="4961500"/>
                <a:gridCol w="2126357"/>
              </a:tblGrid>
              <a:tr h="385961">
                <a:tc>
                  <a:txBody>
                    <a:bodyPr/>
                    <a:lstStyle/>
                    <a:p>
                      <a:pPr indent="0" marL="0">
                        <a:lnSpc>
                          <a:spcPts val="1960"/>
                        </a:lnSpc>
                        <a:buNone/>
                      </a:pPr>
                      <a:r>
                        <a:rPr lang="en-US" sz="1400" b="1" dirty="0">
                          <a:solidFill>
                            <a:srgbClr val="3A4556"/>
                          </a:solidFill>
                          <a:latin typeface="IBM Plex Sans" pitchFamily="34" charset="0"/>
                          <a:ea typeface="IBM Plex Sans" pitchFamily="34" charset="-122"/>
                          <a:cs typeface="IBM Plex Sans" pitchFamily="34" charset="-120"/>
                        </a:rPr>
                        <a:t>After normalizing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3A4556"/>
                          </a:solidFill>
                          <a:latin typeface="IBM Plex Sans" pitchFamily="34" charset="0"/>
                          <a:ea typeface="IBM Plex Sans" pitchFamily="34" charset="-122"/>
                          <a:cs typeface="IBM Plex Sans" pitchFamily="34" charset="-120"/>
                        </a:rPr>
                        <a:t>Count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5961">
                <a:tc>
                  <a:txBody>
                    <a:bodyPr/>
                    <a:lstStyle/>
                    <a:p>
                      <a:pP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Groups of hidden duplicates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4,397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Groups with both labels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900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Functions removed in total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5,440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Clean dataset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325,052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8" name="Shape 5"/>
          <p:cNvSpPr/>
          <p:nvPr/>
        </p:nvSpPr>
        <p:spPr>
          <a:xfrm>
            <a:off x="812800" y="4121745"/>
            <a:ext cx="10566400" cy="939800"/>
          </a:xfrm>
          <a:prstGeom prst="roundRect">
            <a:avLst>
              <a:gd name="adj" fmla="val 8108"/>
            </a:avLst>
          </a:prstGeom>
          <a:solidFill>
            <a:srgbClr val="E3EEF9"/>
          </a:solidFill>
          <a:ln/>
        </p:spPr>
      </p:sp>
      <p:sp>
        <p:nvSpPr>
          <p:cNvPr id="9" name="Shape 6"/>
          <p:cNvSpPr/>
          <p:nvPr/>
        </p:nvSpPr>
        <p:spPr>
          <a:xfrm>
            <a:off x="812800" y="4121745"/>
            <a:ext cx="10566400" cy="939800"/>
          </a:xfrm>
          <a:custGeom>
            <a:avLst/>
            <a:gdLst/>
            <a:ahLst/>
            <a:cxnLst/>
            <a:rect l="l" t="t" r="r" b="b"/>
            <a:pathLst>
              <a:path w="10566400" h="939800">
                <a:moveTo>
                  <a:pt x="76200" y="939800"/>
                </a:moveTo>
                <a:lnTo>
                  <a:pt x="76200" y="939800"/>
                </a:lnTo>
                <a:arcTo hR="76200" wR="76200" stAng="5400000" swAng="5400000"/>
                <a:lnTo>
                  <a:pt x="0" y="76200"/>
                </a:lnTo>
                <a:arcTo hR="76200" wR="76200" stAng="10800000" swAng="5400000"/>
                <a:lnTo>
                  <a:pt x="76200" y="0"/>
                </a:lnTo>
                <a:arcTo hR="76200" wR="25400" stAng="16200000" swAng="-5400000"/>
                <a:lnTo>
                  <a:pt x="50800" y="863600"/>
                </a:lnTo>
                <a:arcTo hR="76200" wR="25400" stAng="10800000" swAng="-5400000"/>
                <a:close/>
              </a:path>
            </a:pathLst>
          </a:custGeom>
          <a:solidFill>
            <a:srgbClr val="2F6FB0"/>
          </a:solidFill>
          <a:ln/>
        </p:spPr>
      </p:sp>
      <p:pic>
        <p:nvPicPr>
          <p:cNvPr id="10" name="Image 0" descr="CheckCircle">    </p:cNvPr>
          <p:cNvPicPr>
            <a:picLocks noChangeAspect="1"/>
          </p:cNvPicPr>
          <p:nvPr/>
        </p:nvPicPr>
        <p:blipFill>
          <a:blip r:embed="rId1"/>
          <a:srcRect l="0" r="0" t="-257" b="-257"/>
          <a:stretch/>
        </p:blipFill>
        <p:spPr>
          <a:xfrm>
            <a:off x="1117600" y="4413845"/>
            <a:ext cx="347464" cy="355600"/>
          </a:xfrm>
          <a:prstGeom prst="rect">
            <a:avLst/>
          </a:prstGeom>
        </p:spPr>
      </p:pic>
      <p:sp>
        <p:nvSpPr>
          <p:cNvPr id="11" name="Text 7"/>
          <p:cNvSpPr/>
          <p:nvPr/>
        </p:nvSpPr>
        <p:spPr>
          <a:xfrm>
            <a:off x="1617464" y="4324945"/>
            <a:ext cx="979296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Answer to RQ1.</a:t>
            </a:r>
            <a:r>
              <a:rPr lang="en-US" sz="1500" dirty="0">
                <a:solidFill>
                  <a:srgbClr val="14213D"/>
                </a:solidFill>
                <a:latin typeface="IBM Plex Sans" pitchFamily="34" charset="0"/>
                <a:ea typeface="IBM Plex Sans" pitchFamily="34" charset="-122"/>
                <a:cs typeface="IBM Plex Sans" pitchFamily="34" charset="-120"/>
              </a:rPr>
              <a:t> The paper estimated about 4% by hand; our script finds 4.8% automatically, with one cheap step.</a:t>
            </a:r>
            <a:endParaRPr lang="en-US" sz="15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TRAINING SETUP</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CodeT5-Small, fine-tuned on a free GPU</a:t>
            </a:r>
            <a:endParaRPr lang="en-US" sz="3200" dirty="0"/>
          </a:p>
        </p:txBody>
      </p:sp>
      <p:sp>
        <p:nvSpPr>
          <p:cNvPr id="4" name="Text 2"/>
          <p:cNvSpPr/>
          <p:nvPr/>
        </p:nvSpPr>
        <p:spPr>
          <a:xfrm>
            <a:off x="812800" y="1874441"/>
            <a:ext cx="525856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Two ways to split the data</a:t>
            </a:r>
            <a:endParaRPr lang="en-US" sz="1800" dirty="0"/>
          </a:p>
        </p:txBody>
      </p:sp>
      <p:sp>
        <p:nvSpPr>
          <p:cNvPr id="5" name="Shape 3"/>
          <p:cNvSpPr/>
          <p:nvPr/>
        </p:nvSpPr>
        <p:spPr>
          <a:xfrm>
            <a:off x="815975" y="2304324"/>
            <a:ext cx="5099050" cy="1200944"/>
          </a:xfrm>
          <a:prstGeom prst="roundRect">
            <a:avLst>
              <a:gd name="adj" fmla="val 8196"/>
            </a:avLst>
          </a:prstGeom>
          <a:solidFill>
            <a:srgbClr val="FFFFFF"/>
          </a:solidFill>
          <a:ln w="6350">
            <a:solidFill>
              <a:srgbClr val="DDE3EA"/>
            </a:solidFill>
            <a:prstDash val="solid"/>
          </a:ln>
        </p:spPr>
      </p:sp>
      <p:sp>
        <p:nvSpPr>
          <p:cNvPr id="6" name="Text 4"/>
          <p:cNvSpPr/>
          <p:nvPr/>
        </p:nvSpPr>
        <p:spPr>
          <a:xfrm>
            <a:off x="1020233" y="2508585"/>
            <a:ext cx="483124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0"/>
                </a:solidFill>
                <a:latin typeface="IBM Plex Sans" pitchFamily="34" charset="0"/>
                <a:ea typeface="IBM Plex Sans" pitchFamily="34" charset="-122"/>
                <a:cs typeface="IBM Plex Sans" pitchFamily="34" charset="-120"/>
              </a:rPr>
              <a:t>Random split</a:t>
            </a:r>
            <a:endParaRPr lang="en-US" sz="1500" dirty="0"/>
          </a:p>
        </p:txBody>
      </p:sp>
      <p:sp>
        <p:nvSpPr>
          <p:cNvPr id="7" name="Text 5"/>
          <p:cNvSpPr/>
          <p:nvPr/>
        </p:nvSpPr>
        <p:spPr>
          <a:xfrm>
            <a:off x="1020233" y="2838785"/>
            <a:ext cx="483124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80 / 10 / 10 of all functions. Test code is from projects seen in training.</a:t>
            </a:r>
            <a:endParaRPr lang="en-US" sz="1300" dirty="0"/>
          </a:p>
        </p:txBody>
      </p:sp>
      <p:sp>
        <p:nvSpPr>
          <p:cNvPr id="8" name="Shape 6"/>
          <p:cNvSpPr/>
          <p:nvPr/>
        </p:nvSpPr>
        <p:spPr>
          <a:xfrm>
            <a:off x="815975" y="3664018"/>
            <a:ext cx="5099050" cy="1200944"/>
          </a:xfrm>
          <a:prstGeom prst="roundRect">
            <a:avLst>
              <a:gd name="adj" fmla="val 8196"/>
            </a:avLst>
          </a:prstGeom>
          <a:solidFill>
            <a:srgbClr val="FFFFFF"/>
          </a:solidFill>
          <a:ln w="6350">
            <a:solidFill>
              <a:srgbClr val="DDE3EA"/>
            </a:solidFill>
            <a:prstDash val="solid"/>
          </a:ln>
        </p:spPr>
      </p:sp>
      <p:sp>
        <p:nvSpPr>
          <p:cNvPr id="9" name="Text 7"/>
          <p:cNvSpPr/>
          <p:nvPr/>
        </p:nvSpPr>
        <p:spPr>
          <a:xfrm>
            <a:off x="1020233" y="3868279"/>
            <a:ext cx="483124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491A"/>
                </a:solidFill>
                <a:latin typeface="IBM Plex Sans" pitchFamily="34" charset="0"/>
                <a:ea typeface="IBM Plex Sans" pitchFamily="34" charset="-122"/>
                <a:cs typeface="IBM Plex Sans" pitchFamily="34" charset="-120"/>
              </a:rPr>
              <a:t>Unseen-project split</a:t>
            </a:r>
            <a:endParaRPr lang="en-US" sz="1500" dirty="0"/>
          </a:p>
        </p:txBody>
      </p:sp>
      <p:sp>
        <p:nvSpPr>
          <p:cNvPr id="10" name="Text 8"/>
          <p:cNvSpPr/>
          <p:nvPr/>
        </p:nvSpPr>
        <p:spPr>
          <a:xfrm>
            <a:off x="1020233" y="4198479"/>
            <a:ext cx="483124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80 of 800 projects held out entirely. The model never sees their code.</a:t>
            </a:r>
            <a:endParaRPr lang="en-US" sz="1300" dirty="0"/>
          </a:p>
        </p:txBody>
      </p:sp>
      <p:sp>
        <p:nvSpPr>
          <p:cNvPr id="11" name="Text 9"/>
          <p:cNvSpPr/>
          <p:nvPr/>
        </p:nvSpPr>
        <p:spPr>
          <a:xfrm>
            <a:off x="6273800" y="1874441"/>
            <a:ext cx="525856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Same settings for every run</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86500" y="2313849"/>
          <a:ext cx="5092700" cy="2515129"/>
        </p:xfrm>
        <a:graphic>
          <a:graphicData uri="http://schemas.openxmlformats.org/drawingml/2006/table">
            <a:tbl>
              <a:tblPr/>
              <a:tblGrid>
                <a:gridCol w="2546350"/>
                <a:gridCol w="2546350"/>
              </a:tblGrid>
              <a:tr h="359304">
                <a:tc>
                  <a:txBody>
                    <a:bodyPr/>
                    <a:lstStyle/>
                    <a:p>
                      <a:pPr indent="0" marL="0">
                        <a:lnSpc>
                          <a:spcPts val="1820"/>
                        </a:lnSpc>
                        <a:buNone/>
                      </a:pPr>
                      <a:r>
                        <a:rPr lang="en-US" sz="1300" b="1" dirty="0">
                          <a:solidFill>
                            <a:srgbClr val="3A455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3A4556"/>
                          </a:solidFill>
                          <a:latin typeface="IBM Plex Sans" pitchFamily="34" charset="0"/>
                          <a:ea typeface="IBM Plex Sans" pitchFamily="34" charset="-122"/>
                          <a:cs typeface="IBM Plex Sans" pitchFamily="34" charset="-120"/>
                        </a:rPr>
                        <a:t>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CodeT5-Small (60M)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Input length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256 tokens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Epochs · learning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3 · 1e-4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Training balance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1 vulnerable : 3 safe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Decision threshold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best F1 on validation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Time per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 50 min on a 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91A"/>
                </a:solidFill>
                <a:latin typeface="IBM Plex Sans" pitchFamily="34" charset="0"/>
                <a:ea typeface="IBM Plex Sans" pitchFamily="34" charset="-122"/>
                <a:cs typeface="IBM Plex Sans" pitchFamily="34" charset="-120"/>
              </a:rPr>
              <a:t>IMPROVEMENT B · IDENTIFIER RENAMING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Hide every project-specific name</a:t>
            </a:r>
            <a:endParaRPr lang="en-US" sz="3200" dirty="0"/>
          </a:p>
        </p:txBody>
      </p:sp>
      <p:sp>
        <p:nvSpPr>
          <p:cNvPr id="4" name="Shape 2"/>
          <p:cNvSpPr/>
          <p:nvPr/>
        </p:nvSpPr>
        <p:spPr>
          <a:xfrm>
            <a:off x="812800" y="1823641"/>
            <a:ext cx="5181600" cy="2379663"/>
          </a:xfrm>
          <a:prstGeom prst="roundRect">
            <a:avLst>
              <a:gd name="adj" fmla="val 4270"/>
            </a:avLst>
          </a:prstGeom>
          <a:solidFill>
            <a:srgbClr val="14213D"/>
          </a:solidFill>
          <a:ln/>
        </p:spPr>
      </p:sp>
      <p:sp>
        <p:nvSpPr>
          <p:cNvPr id="5" name="Text 3"/>
          <p:cNvSpPr/>
          <p:nvPr/>
        </p:nvSpPr>
        <p:spPr>
          <a:xfrm>
            <a:off x="1041400" y="202684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4E3"/>
                </a:solidFill>
                <a:latin typeface="IBM Plex Sans" pitchFamily="34" charset="0"/>
                <a:ea typeface="IBM Plex Sans" pitchFamily="34" charset="-122"/>
                <a:cs typeface="IBM Plex Sans" pitchFamily="34" charset="-120"/>
              </a:rPr>
              <a:t>Before</a:t>
            </a:r>
            <a:endParaRPr lang="en-US" sz="1200" dirty="0"/>
          </a:p>
        </p:txBody>
      </p:sp>
      <p:sp>
        <p:nvSpPr>
          <p:cNvPr id="6" name="Text 4"/>
          <p:cNvSpPr/>
          <p:nvPr/>
        </p:nvSpPr>
        <p:spPr>
          <a:xfrm>
            <a:off x="1041400" y="227826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int png_read_chunk(png_structp png_ptr,</a:t>
            </a:r>
            <a:endParaRPr lang="en-US" sz="1200" dirty="0"/>
          </a:p>
        </p:txBody>
      </p:sp>
      <p:sp>
        <p:nvSpPr>
          <p:cNvPr id="7" name="Text 5"/>
          <p:cNvSpPr/>
          <p:nvPr/>
        </p:nvSpPr>
        <p:spPr>
          <a:xfrm>
            <a:off x="1041400" y="252968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char *buf, size_t len) {</a:t>
            </a:r>
            <a:endParaRPr lang="en-US" sz="1200" dirty="0"/>
          </a:p>
        </p:txBody>
      </p:sp>
      <p:sp>
        <p:nvSpPr>
          <p:cNvPr id="8" name="Text 6"/>
          <p:cNvSpPr/>
          <p:nvPr/>
        </p:nvSpPr>
        <p:spPr>
          <a:xfrm>
            <a:off x="1041400" y="278110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char tmp[MAX_CHUNK];</a:t>
            </a:r>
            <a:endParaRPr lang="en-US" sz="1200" dirty="0"/>
          </a:p>
        </p:txBody>
      </p:sp>
      <p:sp>
        <p:nvSpPr>
          <p:cNvPr id="9" name="Text 7"/>
          <p:cNvSpPr/>
          <p:nvPr/>
        </p:nvSpPr>
        <p:spPr>
          <a:xfrm>
            <a:off x="1041400" y="303252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if (len &gt; MAX_CHUNK)</a:t>
            </a:r>
            <a:endParaRPr lang="en-US" sz="1200" dirty="0"/>
          </a:p>
        </p:txBody>
      </p:sp>
      <p:sp>
        <p:nvSpPr>
          <p:cNvPr id="10" name="Text 8"/>
          <p:cNvSpPr/>
          <p:nvPr/>
        </p:nvSpPr>
        <p:spPr>
          <a:xfrm>
            <a:off x="1041400" y="328394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return png_error(png_ptr, "too big");</a:t>
            </a:r>
            <a:endParaRPr lang="en-US" sz="1200" dirty="0"/>
          </a:p>
        </p:txBody>
      </p:sp>
      <p:sp>
        <p:nvSpPr>
          <p:cNvPr id="11" name="Text 9"/>
          <p:cNvSpPr/>
          <p:nvPr/>
        </p:nvSpPr>
        <p:spPr>
          <a:xfrm>
            <a:off x="1041400" y="353536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memcpy(tmp, buf, len);</a:t>
            </a:r>
            <a:endParaRPr lang="en-US" sz="1200" dirty="0"/>
          </a:p>
        </p:txBody>
      </p:sp>
      <p:sp>
        <p:nvSpPr>
          <p:cNvPr id="12" name="Text 10"/>
          <p:cNvSpPr/>
          <p:nvPr/>
        </p:nvSpPr>
        <p:spPr>
          <a:xfrm>
            <a:off x="1041400" y="378678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a:t>
            </a:r>
            <a:endParaRPr lang="en-US" sz="1200" dirty="0"/>
          </a:p>
        </p:txBody>
      </p:sp>
      <p:sp>
        <p:nvSpPr>
          <p:cNvPr id="13" name="Shape 11"/>
          <p:cNvSpPr/>
          <p:nvPr/>
        </p:nvSpPr>
        <p:spPr>
          <a:xfrm>
            <a:off x="6197600" y="1823641"/>
            <a:ext cx="5181600" cy="2379663"/>
          </a:xfrm>
          <a:prstGeom prst="roundRect">
            <a:avLst>
              <a:gd name="adj" fmla="val 4270"/>
            </a:avLst>
          </a:prstGeom>
          <a:solidFill>
            <a:srgbClr val="14213D"/>
          </a:solidFill>
          <a:ln/>
        </p:spPr>
      </p:sp>
      <p:sp>
        <p:nvSpPr>
          <p:cNvPr id="14" name="Text 12"/>
          <p:cNvSpPr/>
          <p:nvPr/>
        </p:nvSpPr>
        <p:spPr>
          <a:xfrm>
            <a:off x="6426200" y="202684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A672"/>
                </a:solidFill>
                <a:latin typeface="IBM Plex Sans" pitchFamily="34" charset="0"/>
                <a:ea typeface="IBM Plex Sans" pitchFamily="34" charset="-122"/>
                <a:cs typeface="IBM Plex Sans" pitchFamily="34" charset="-120"/>
              </a:rPr>
              <a:t>After</a:t>
            </a:r>
            <a:endParaRPr lang="en-US" sz="1200" dirty="0"/>
          </a:p>
        </p:txBody>
      </p:sp>
      <p:sp>
        <p:nvSpPr>
          <p:cNvPr id="15" name="Text 13"/>
          <p:cNvSpPr/>
          <p:nvPr/>
        </p:nvSpPr>
        <p:spPr>
          <a:xfrm>
            <a:off x="6426200" y="227826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int FUNC_1(VAR_1 VAR_2,</a:t>
            </a:r>
            <a:endParaRPr lang="en-US" sz="1200" dirty="0"/>
          </a:p>
        </p:txBody>
      </p:sp>
      <p:sp>
        <p:nvSpPr>
          <p:cNvPr id="16" name="Text 14"/>
          <p:cNvSpPr/>
          <p:nvPr/>
        </p:nvSpPr>
        <p:spPr>
          <a:xfrm>
            <a:off x="6426200" y="252968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char *VAR_3, size_t VAR_4) {</a:t>
            </a:r>
            <a:endParaRPr lang="en-US" sz="1200" dirty="0"/>
          </a:p>
        </p:txBody>
      </p:sp>
      <p:sp>
        <p:nvSpPr>
          <p:cNvPr id="17" name="Text 15"/>
          <p:cNvSpPr/>
          <p:nvPr/>
        </p:nvSpPr>
        <p:spPr>
          <a:xfrm>
            <a:off x="6426200" y="278110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char VAR_5[VAR_6];</a:t>
            </a:r>
            <a:endParaRPr lang="en-US" sz="1200" dirty="0"/>
          </a:p>
        </p:txBody>
      </p:sp>
      <p:sp>
        <p:nvSpPr>
          <p:cNvPr id="18" name="Text 16"/>
          <p:cNvSpPr/>
          <p:nvPr/>
        </p:nvSpPr>
        <p:spPr>
          <a:xfrm>
            <a:off x="6426200" y="303252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if (VAR_4 &gt; VAR_6)</a:t>
            </a:r>
            <a:endParaRPr lang="en-US" sz="1200" dirty="0"/>
          </a:p>
        </p:txBody>
      </p:sp>
      <p:sp>
        <p:nvSpPr>
          <p:cNvPr id="19" name="Text 17"/>
          <p:cNvSpPr/>
          <p:nvPr/>
        </p:nvSpPr>
        <p:spPr>
          <a:xfrm>
            <a:off x="6426200" y="328394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return FUNC_2(VAR_2, "too big");</a:t>
            </a:r>
            <a:endParaRPr lang="en-US" sz="1200" dirty="0"/>
          </a:p>
        </p:txBody>
      </p:sp>
      <p:sp>
        <p:nvSpPr>
          <p:cNvPr id="20" name="Text 18"/>
          <p:cNvSpPr/>
          <p:nvPr/>
        </p:nvSpPr>
        <p:spPr>
          <a:xfrm>
            <a:off x="6426200" y="353536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  memcpy(VAR_5, VAR_3, VAR_4);</a:t>
            </a:r>
            <a:endParaRPr lang="en-US" sz="1200" dirty="0"/>
          </a:p>
        </p:txBody>
      </p:sp>
      <p:sp>
        <p:nvSpPr>
          <p:cNvPr id="21" name="Text 19"/>
          <p:cNvSpPr/>
          <p:nvPr/>
        </p:nvSpPr>
        <p:spPr>
          <a:xfrm>
            <a:off x="6426200" y="378678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JetBrains Mono" pitchFamily="49" charset="0"/>
                <a:ea typeface="JetBrains Mono" pitchFamily="49" charset="-122"/>
                <a:cs typeface="JetBrains Mono" pitchFamily="49" charset="-120"/>
              </a:rPr>
              <a:t>}</a:t>
            </a:r>
            <a:endParaRPr lang="en-US" sz="1200" dirty="0"/>
          </a:p>
        </p:txBody>
      </p:sp>
      <p:sp>
        <p:nvSpPr>
          <p:cNvPr id="22" name="Text 20"/>
          <p:cNvSpPr/>
          <p:nvPr/>
        </p:nvSpPr>
        <p:spPr>
          <a:xfrm>
            <a:off x="812800" y="4457303"/>
            <a:ext cx="5337048"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6"/>
                </a:solidFill>
                <a:latin typeface="IBM Plex Sans" pitchFamily="34" charset="0"/>
                <a:ea typeface="IBM Plex Sans" pitchFamily="34" charset="-122"/>
                <a:cs typeface="IBM Plex Sans" pitchFamily="34" charset="-120"/>
              </a:rPr>
              <a:t>Kept:</a:t>
            </a:r>
            <a:r>
              <a:rPr lang="en-US" sz="1400" dirty="0">
                <a:solidFill>
                  <a:srgbClr val="3A4556"/>
                </a:solidFill>
                <a:latin typeface="IBM Plex Sans" pitchFamily="34" charset="0"/>
                <a:ea typeface="IBM Plex Sans" pitchFamily="34" charset="-122"/>
                <a:cs typeface="IBM Plex Sans" pitchFamily="34" charset="-120"/>
              </a:rPr>
              <a:t> C keywords, risky library calls (</a:t>
            </a:r>
            <a:r>
              <a:rPr lang="en-US" sz="1400" i="1" dirty="0">
                <a:solidFill>
                  <a:srgbClr val="3A4556"/>
                </a:solidFill>
                <a:latin typeface="IBM Plex Sans" pitchFamily="34" charset="0"/>
                <a:ea typeface="IBM Plex Sans" pitchFamily="34" charset="-122"/>
                <a:cs typeface="IBM Plex Sans" pitchFamily="34" charset="-120"/>
              </a:rPr>
              <a:t>memcpy</a:t>
            </a:r>
            <a:r>
              <a:rPr lang="en-US" sz="1400" dirty="0">
                <a:solidFill>
                  <a:srgbClr val="3A4556"/>
                </a:solidFill>
                <a:latin typeface="IBM Plex Sans" pitchFamily="34" charset="0"/>
                <a:ea typeface="IBM Plex Sans" pitchFamily="34" charset="-122"/>
                <a:cs typeface="IBM Plex Sans" pitchFamily="34" charset="-120"/>
              </a:rPr>
              <a:t>, </a:t>
            </a:r>
            <a:r>
              <a:rPr lang="en-US" sz="1400" i="1" dirty="0">
                <a:solidFill>
                  <a:srgbClr val="3A4556"/>
                </a:solidFill>
                <a:latin typeface="IBM Plex Sans" pitchFamily="34" charset="0"/>
                <a:ea typeface="IBM Plex Sans" pitchFamily="34" charset="-122"/>
                <a:cs typeface="IBM Plex Sans" pitchFamily="34" charset="-120"/>
              </a:rPr>
              <a:t>strcpy</a:t>
            </a:r>
            <a:r>
              <a:rPr lang="en-US" sz="1400" dirty="0">
                <a:solidFill>
                  <a:srgbClr val="3A4556"/>
                </a:solidFill>
                <a:latin typeface="IBM Plex Sans" pitchFamily="34" charset="0"/>
                <a:ea typeface="IBM Plex Sans" pitchFamily="34" charset="-122"/>
                <a:cs typeface="IBM Plex Sans" pitchFamily="34" charset="-120"/>
              </a:rPr>
              <a:t>, </a:t>
            </a:r>
            <a:r>
              <a:rPr lang="en-US" sz="1400" i="1" dirty="0">
                <a:solidFill>
                  <a:srgbClr val="3A4556"/>
                </a:solidFill>
                <a:latin typeface="IBM Plex Sans" pitchFamily="34" charset="0"/>
                <a:ea typeface="IBM Plex Sans" pitchFamily="34" charset="-122"/>
                <a:cs typeface="IBM Plex Sans" pitchFamily="34" charset="-120"/>
              </a:rPr>
              <a:t>free</a:t>
            </a:r>
            <a:r>
              <a:rPr lang="en-US" sz="1400" dirty="0">
                <a:solidFill>
                  <a:srgbClr val="3A4556"/>
                </a:solidFill>
                <a:latin typeface="IBM Plex Sans" pitchFamily="34" charset="0"/>
                <a:ea typeface="IBM Plex Sans" pitchFamily="34" charset="-122"/>
                <a:cs typeface="IBM Plex Sans" pitchFamily="34" charset="-120"/>
              </a:rPr>
              <a:t> …), string literals</a:t>
            </a:r>
            <a:endParaRPr lang="en-US" sz="1400" dirty="0"/>
          </a:p>
        </p:txBody>
      </p:sp>
      <p:sp>
        <p:nvSpPr>
          <p:cNvPr id="23" name="Text 21"/>
          <p:cNvSpPr/>
          <p:nvPr/>
        </p:nvSpPr>
        <p:spPr>
          <a:xfrm>
            <a:off x="6197600" y="4457303"/>
            <a:ext cx="5337048"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6"/>
                </a:solidFill>
                <a:latin typeface="IBM Plex Sans" pitchFamily="34" charset="0"/>
                <a:ea typeface="IBM Plex Sans" pitchFamily="34" charset="-122"/>
                <a:cs typeface="IBM Plex Sans" pitchFamily="34" charset="-120"/>
              </a:rPr>
              <a:t>Renamed:</a:t>
            </a:r>
            <a:r>
              <a:rPr lang="en-US" sz="1400" dirty="0">
                <a:solidFill>
                  <a:srgbClr val="3A4556"/>
                </a:solidFill>
                <a:latin typeface="IBM Plex Sans" pitchFamily="34" charset="0"/>
                <a:ea typeface="IBM Plex Sans" pitchFamily="34" charset="-122"/>
                <a:cs typeface="IBM Plex Sans" pitchFamily="34" charset="-120"/>
              </a:rPr>
              <a:t> every other name, consistently within a function, so data flow stays visible</a:t>
            </a:r>
            <a:endParaRPr lang="en-US" sz="14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EXPERIMENT DESIGN</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Four runs answer RQ2 and RQ3</a:t>
            </a:r>
            <a:endParaRPr lang="en-US" sz="3200" dirty="0"/>
          </a:p>
        </p:txBody>
      </p:sp>
      <p:sp>
        <p:nvSpPr>
          <p:cNvPr id="4" name="Text 2"/>
          <p:cNvSpPr/>
          <p:nvPr/>
        </p:nvSpPr>
        <p:spPr>
          <a:xfrm>
            <a:off x="778510" y="1874441"/>
            <a:ext cx="235458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Normal names</a:t>
            </a:r>
            <a:endParaRPr lang="en-US" sz="1500" dirty="0"/>
          </a:p>
        </p:txBody>
      </p:sp>
      <p:sp>
        <p:nvSpPr>
          <p:cNvPr id="5" name="Text 3"/>
          <p:cNvSpPr/>
          <p:nvPr/>
        </p:nvSpPr>
        <p:spPr>
          <a:xfrm>
            <a:off x="3165602" y="1874441"/>
            <a:ext cx="413359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5491A"/>
                </a:solidFill>
                <a:latin typeface="IBM Plex Sans" pitchFamily="34" charset="0"/>
                <a:ea typeface="IBM Plex Sans" pitchFamily="34" charset="-122"/>
                <a:cs typeface="IBM Plex Sans" pitchFamily="34" charset="-120"/>
              </a:rPr>
              <a:t>Renamed (VAR_1, FUNC_1)</a:t>
            </a:r>
            <a:endParaRPr lang="en-US" sz="1500" dirty="0"/>
          </a:p>
        </p:txBody>
      </p:sp>
      <p:sp>
        <p:nvSpPr>
          <p:cNvPr id="6" name="Text 4"/>
          <p:cNvSpPr/>
          <p:nvPr/>
        </p:nvSpPr>
        <p:spPr>
          <a:xfrm>
            <a:off x="7366000" y="1874441"/>
            <a:ext cx="413359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Random split</a:t>
            </a:r>
            <a:endParaRPr lang="en-US" sz="1500" dirty="0"/>
          </a:p>
        </p:txBody>
      </p:sp>
      <p:sp>
        <p:nvSpPr>
          <p:cNvPr id="7" name="Shape 5"/>
          <p:cNvSpPr/>
          <p:nvPr/>
        </p:nvSpPr>
        <p:spPr>
          <a:xfrm>
            <a:off x="812800" y="2268141"/>
            <a:ext cx="2286000" cy="1079434"/>
          </a:xfrm>
          <a:prstGeom prst="roundRect">
            <a:avLst>
              <a:gd name="adj" fmla="val 9412"/>
            </a:avLst>
          </a:prstGeom>
          <a:solidFill>
            <a:srgbClr val="FFFFFF"/>
          </a:solidFill>
          <a:ln/>
        </p:spPr>
      </p:sp>
      <p:sp>
        <p:nvSpPr>
          <p:cNvPr id="8" name="Text 6"/>
          <p:cNvSpPr/>
          <p:nvPr/>
        </p:nvSpPr>
        <p:spPr>
          <a:xfrm>
            <a:off x="1502807" y="2471341"/>
            <a:ext cx="90598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2F6FB0"/>
                </a:solidFill>
                <a:latin typeface="IBM Plex Sans" pitchFamily="34" charset="0"/>
                <a:ea typeface="IBM Plex Sans" pitchFamily="34" charset="-122"/>
                <a:cs typeface="IBM Plex Sans" pitchFamily="34" charset="-120"/>
              </a:rPr>
              <a:t>Run 1</a:t>
            </a:r>
            <a:endParaRPr lang="en-US" sz="2200" dirty="0"/>
          </a:p>
        </p:txBody>
      </p:sp>
      <p:sp>
        <p:nvSpPr>
          <p:cNvPr id="9" name="Text 7"/>
          <p:cNvSpPr/>
          <p:nvPr/>
        </p:nvSpPr>
        <p:spPr>
          <a:xfrm>
            <a:off x="1004014" y="2913261"/>
            <a:ext cx="1903571"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does our setup work?</a:t>
            </a:r>
            <a:endParaRPr lang="en-US" sz="1300" dirty="0"/>
          </a:p>
        </p:txBody>
      </p:sp>
      <p:sp>
        <p:nvSpPr>
          <p:cNvPr id="10" name="Shape 8"/>
          <p:cNvSpPr/>
          <p:nvPr/>
        </p:nvSpPr>
        <p:spPr>
          <a:xfrm>
            <a:off x="3225800" y="2268141"/>
            <a:ext cx="4013200" cy="1079434"/>
          </a:xfrm>
          <a:prstGeom prst="roundRect">
            <a:avLst>
              <a:gd name="adj" fmla="val 9412"/>
            </a:avLst>
          </a:prstGeom>
          <a:solidFill>
            <a:srgbClr val="FFFFFF"/>
          </a:solidFill>
          <a:ln/>
        </p:spPr>
      </p:sp>
      <p:sp>
        <p:nvSpPr>
          <p:cNvPr id="11" name="Text 9"/>
          <p:cNvSpPr/>
          <p:nvPr/>
        </p:nvSpPr>
        <p:spPr>
          <a:xfrm>
            <a:off x="4779407" y="2471341"/>
            <a:ext cx="90598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B5491A"/>
                </a:solidFill>
                <a:latin typeface="IBM Plex Sans" pitchFamily="34" charset="0"/>
                <a:ea typeface="IBM Plex Sans" pitchFamily="34" charset="-122"/>
                <a:cs typeface="IBM Plex Sans" pitchFamily="34" charset="-120"/>
              </a:rPr>
              <a:t>Run 3</a:t>
            </a:r>
            <a:endParaRPr lang="en-US" sz="2200" dirty="0"/>
          </a:p>
        </p:txBody>
      </p:sp>
      <p:sp>
        <p:nvSpPr>
          <p:cNvPr id="12" name="Text 10"/>
          <p:cNvSpPr/>
          <p:nvPr/>
        </p:nvSpPr>
        <p:spPr>
          <a:xfrm>
            <a:off x="3625301" y="2913261"/>
            <a:ext cx="3214132"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does renaming hurt on known code?</a:t>
            </a:r>
            <a:endParaRPr lang="en-US" sz="1300" dirty="0"/>
          </a:p>
        </p:txBody>
      </p:sp>
      <p:sp>
        <p:nvSpPr>
          <p:cNvPr id="13" name="Text 11"/>
          <p:cNvSpPr/>
          <p:nvPr/>
        </p:nvSpPr>
        <p:spPr>
          <a:xfrm>
            <a:off x="7366000" y="2674479"/>
            <a:ext cx="413359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Unseen projects</a:t>
            </a:r>
            <a:endParaRPr lang="en-US" sz="1500" dirty="0"/>
          </a:p>
        </p:txBody>
      </p:sp>
      <p:sp>
        <p:nvSpPr>
          <p:cNvPr id="14" name="Shape 12"/>
          <p:cNvSpPr/>
          <p:nvPr/>
        </p:nvSpPr>
        <p:spPr>
          <a:xfrm>
            <a:off x="812800" y="3474579"/>
            <a:ext cx="2286000" cy="1079434"/>
          </a:xfrm>
          <a:prstGeom prst="roundRect">
            <a:avLst>
              <a:gd name="adj" fmla="val 9412"/>
            </a:avLst>
          </a:prstGeom>
          <a:solidFill>
            <a:srgbClr val="FFFFFF"/>
          </a:solidFill>
          <a:ln/>
        </p:spPr>
      </p:sp>
      <p:sp>
        <p:nvSpPr>
          <p:cNvPr id="15" name="Text 13"/>
          <p:cNvSpPr/>
          <p:nvPr/>
        </p:nvSpPr>
        <p:spPr>
          <a:xfrm>
            <a:off x="1502807" y="3677779"/>
            <a:ext cx="90598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2F6FB0"/>
                </a:solidFill>
                <a:latin typeface="IBM Plex Sans" pitchFamily="34" charset="0"/>
                <a:ea typeface="IBM Plex Sans" pitchFamily="34" charset="-122"/>
                <a:cs typeface="IBM Plex Sans" pitchFamily="34" charset="-120"/>
              </a:rPr>
              <a:t>Run 2</a:t>
            </a:r>
            <a:endParaRPr lang="en-US" sz="2200" dirty="0"/>
          </a:p>
        </p:txBody>
      </p:sp>
      <p:sp>
        <p:nvSpPr>
          <p:cNvPr id="16" name="Text 14"/>
          <p:cNvSpPr/>
          <p:nvPr/>
        </p:nvSpPr>
        <p:spPr>
          <a:xfrm>
            <a:off x="1131180" y="4119699"/>
            <a:ext cx="1649174"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the problem (RQ2)</a:t>
            </a:r>
            <a:endParaRPr lang="en-US" sz="1300" dirty="0"/>
          </a:p>
        </p:txBody>
      </p:sp>
      <p:sp>
        <p:nvSpPr>
          <p:cNvPr id="17" name="Shape 15"/>
          <p:cNvSpPr/>
          <p:nvPr/>
        </p:nvSpPr>
        <p:spPr>
          <a:xfrm>
            <a:off x="3238500" y="3487279"/>
            <a:ext cx="3987800" cy="1054034"/>
          </a:xfrm>
          <a:prstGeom prst="roundRect">
            <a:avLst>
              <a:gd name="adj" fmla="val 8434"/>
            </a:avLst>
          </a:prstGeom>
          <a:solidFill>
            <a:srgbClr val="FFFFFF"/>
          </a:solidFill>
          <a:ln w="25400">
            <a:solidFill>
              <a:srgbClr val="D9622B"/>
            </a:solidFill>
            <a:prstDash val="solid"/>
          </a:ln>
        </p:spPr>
      </p:sp>
      <p:sp>
        <p:nvSpPr>
          <p:cNvPr id="18" name="Text 16"/>
          <p:cNvSpPr/>
          <p:nvPr/>
        </p:nvSpPr>
        <p:spPr>
          <a:xfrm>
            <a:off x="4779407" y="3677779"/>
            <a:ext cx="90598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B5491A"/>
                </a:solidFill>
                <a:latin typeface="IBM Plex Sans" pitchFamily="34" charset="0"/>
                <a:ea typeface="IBM Plex Sans" pitchFamily="34" charset="-122"/>
                <a:cs typeface="IBM Plex Sans" pitchFamily="34" charset="-120"/>
              </a:rPr>
              <a:t>Run 4</a:t>
            </a:r>
            <a:endParaRPr lang="en-US" sz="2200" dirty="0"/>
          </a:p>
        </p:txBody>
      </p:sp>
      <p:sp>
        <p:nvSpPr>
          <p:cNvPr id="19" name="Text 17"/>
          <p:cNvSpPr/>
          <p:nvPr/>
        </p:nvSpPr>
        <p:spPr>
          <a:xfrm>
            <a:off x="4096312" y="4119699"/>
            <a:ext cx="22721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the key experiment (RQ3)</a:t>
            </a:r>
            <a:endParaRPr lang="en-US" sz="1300" dirty="0"/>
          </a:p>
        </p:txBody>
      </p:sp>
      <p:sp>
        <p:nvSpPr>
          <p:cNvPr id="20" name="Text 18"/>
          <p:cNvSpPr/>
          <p:nvPr/>
        </p:nvSpPr>
        <p:spPr>
          <a:xfrm>
            <a:off x="812800" y="485881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If the paper’s guess is right, </a:t>
            </a:r>
            <a:r>
              <a:rPr lang="en-US" sz="1600" b="1" dirty="0">
                <a:solidFill>
                  <a:srgbClr val="14213D"/>
                </a:solidFill>
                <a:latin typeface="IBM Plex Sans" pitchFamily="34" charset="0"/>
                <a:ea typeface="IBM Plex Sans" pitchFamily="34" charset="-122"/>
                <a:cs typeface="IBM Plex Sans" pitchFamily="34" charset="-120"/>
              </a:rPr>
              <a:t>Run 4 should clearly beat Run 2</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All four runs on the test sets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2063750"/>
        </p:xfrm>
        <a:graphic>
          <a:graphicData uri="http://schemas.openxmlformats.org/drawingml/2006/table">
            <a:tbl>
              <a:tblPr/>
              <a:tblGrid>
                <a:gridCol w="949833"/>
                <a:gridCol w="1794129"/>
                <a:gridCol w="1688592"/>
                <a:gridCol w="1583055"/>
                <a:gridCol w="1477518"/>
                <a:gridCol w="1477518"/>
                <a:gridCol w="1583055"/>
              </a:tblGrid>
              <a:tr h="412750">
                <a:tc>
                  <a:txBody>
                    <a:bodyPr/>
                    <a:lstStyle/>
                    <a:p>
                      <a:pP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Run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Test data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Names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Precision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Recall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F1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False alarms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12750">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random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normal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39.0%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29.8%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7.4%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unseen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normal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18.9%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20.3%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19.6%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random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renamed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28.3%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23.7%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6.7%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unseen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renamed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15.2%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31.7%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20.6%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r"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11.4%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bl>
          </a:graphicData>
        </a:graphic>
      </p:graphicFrame>
      <p:sp>
        <p:nvSpPr>
          <p:cNvPr id="5" name="Shape 2"/>
          <p:cNvSpPr/>
          <p:nvPr/>
        </p:nvSpPr>
        <p:spPr>
          <a:xfrm>
            <a:off x="815975" y="4258866"/>
            <a:ext cx="5175250" cy="957130"/>
          </a:xfrm>
          <a:prstGeom prst="roundRect">
            <a:avLst>
              <a:gd name="adj" fmla="val 10283"/>
            </a:avLst>
          </a:prstGeom>
          <a:solidFill>
            <a:srgbClr val="FFFFFF"/>
          </a:solidFill>
          <a:ln w="6350">
            <a:solidFill>
              <a:srgbClr val="DDE3EA"/>
            </a:solidFill>
            <a:prstDash val="solid"/>
          </a:ln>
        </p:spPr>
      </p:sp>
      <p:sp>
        <p:nvSpPr>
          <p:cNvPr id="6" name="Text 3"/>
          <p:cNvSpPr/>
          <p:nvPr/>
        </p:nvSpPr>
        <p:spPr>
          <a:xfrm>
            <a:off x="1020233" y="4463126"/>
            <a:ext cx="490973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Run 1 → Run 2</a:t>
            </a:r>
            <a:endParaRPr lang="en-US" sz="1400" dirty="0"/>
          </a:p>
        </p:txBody>
      </p:sp>
      <p:sp>
        <p:nvSpPr>
          <p:cNvPr id="7" name="Text 4"/>
          <p:cNvSpPr/>
          <p:nvPr/>
        </p:nvSpPr>
        <p:spPr>
          <a:xfrm>
            <a:off x="1020233" y="4762835"/>
            <a:ext cx="490973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F1 falls by a third on unseen projects</a:t>
            </a:r>
            <a:endParaRPr lang="en-US" sz="1400" dirty="0"/>
          </a:p>
        </p:txBody>
      </p:sp>
      <p:sp>
        <p:nvSpPr>
          <p:cNvPr id="8" name="Shape 5"/>
          <p:cNvSpPr/>
          <p:nvPr/>
        </p:nvSpPr>
        <p:spPr>
          <a:xfrm>
            <a:off x="6200775" y="4258866"/>
            <a:ext cx="5175250" cy="957130"/>
          </a:xfrm>
          <a:prstGeom prst="roundRect">
            <a:avLst>
              <a:gd name="adj" fmla="val 10283"/>
            </a:avLst>
          </a:prstGeom>
          <a:solidFill>
            <a:srgbClr val="FFFFFF"/>
          </a:solidFill>
          <a:ln w="6350">
            <a:solidFill>
              <a:srgbClr val="DDE3EA"/>
            </a:solidFill>
            <a:prstDash val="solid"/>
          </a:ln>
        </p:spPr>
      </p:sp>
      <p:sp>
        <p:nvSpPr>
          <p:cNvPr id="9" name="Text 6"/>
          <p:cNvSpPr/>
          <p:nvPr/>
        </p:nvSpPr>
        <p:spPr>
          <a:xfrm>
            <a:off x="6405033" y="4463126"/>
            <a:ext cx="490973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Run 2 → Run 4</a:t>
            </a:r>
            <a:endParaRPr lang="en-US" sz="1400" dirty="0"/>
          </a:p>
        </p:txBody>
      </p:sp>
      <p:sp>
        <p:nvSpPr>
          <p:cNvPr id="10" name="Text 7"/>
          <p:cNvSpPr/>
          <p:nvPr/>
        </p:nvSpPr>
        <p:spPr>
          <a:xfrm>
            <a:off x="6405033" y="4762835"/>
            <a:ext cx="490973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only +1 F1 point, but twice the false alarms</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91A"/>
                </a:solidFill>
                <a:latin typeface="IBM Plex Sans" pitchFamily="34" charset="0"/>
                <a:ea typeface="IBM Plex Sans" pitchFamily="34" charset="-122"/>
                <a:cs typeface="IBM Plex Sans" pitchFamily="34" charset="-120"/>
              </a:rPr>
              <a:t>RQ2 + RQ3 · F1 SCORE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Renaming does not close the gap</a:t>
            </a:r>
            <a:endParaRPr lang="en-US" sz="3200" dirty="0"/>
          </a:p>
        </p:txBody>
      </p:sp>
      <p:sp>
        <p:nvSpPr>
          <p:cNvPr id="4" name="Shape 2"/>
          <p:cNvSpPr/>
          <p:nvPr/>
        </p:nvSpPr>
        <p:spPr>
          <a:xfrm>
            <a:off x="812800" y="1823641"/>
            <a:ext cx="5334000" cy="4000500"/>
          </a:xfrm>
          <a:prstGeom prst="roundRect">
            <a:avLst>
              <a:gd name="adj" fmla="val 2540"/>
            </a:avLst>
          </a:prstGeom>
          <a:solidFill>
            <a:srgbClr val="FFFFFF"/>
          </a:solidFill>
          <a:ln/>
        </p:spPr>
      </p:sp>
      <p:pic>
        <p:nvPicPr>
          <p:cNvPr id="5" name="Image 0" descr="Bar chart of test F1: random split 29.8 normal vs 23.7 renamed; unseen projects 19.6 normal vs 20.6 renamed">    </p:cNvPr>
          <p:cNvPicPr>
            <a:picLocks noChangeAspect="1"/>
          </p:cNvPicPr>
          <p:nvPr/>
        </p:nvPicPr>
        <p:blipFill>
          <a:blip r:embed="rId1"/>
          <a:srcRect l="-40" r="-40" t="0" b="0"/>
          <a:stretch/>
        </p:blipFill>
        <p:spPr>
          <a:xfrm>
            <a:off x="819150" y="1829991"/>
            <a:ext cx="5321300" cy="3987800"/>
          </a:xfrm>
          <a:prstGeom prst="roundRect">
            <a:avLst>
              <a:gd name="adj" fmla="val 2389"/>
            </a:avLst>
          </a:prstGeom>
        </p:spPr>
      </p:pic>
      <p:sp>
        <p:nvSpPr>
          <p:cNvPr id="6" name="Shape 3"/>
          <p:cNvSpPr/>
          <p:nvPr/>
        </p:nvSpPr>
        <p:spPr>
          <a:xfrm>
            <a:off x="815975" y="1826816"/>
            <a:ext cx="5327650" cy="3994150"/>
          </a:xfrm>
          <a:prstGeom prst="roundRect">
            <a:avLst>
              <a:gd name="adj" fmla="val 2464"/>
            </a:avLst>
          </a:prstGeom>
          <a:noFill/>
          <a:ln w="6350">
            <a:solidFill>
              <a:srgbClr val="DDE3EA"/>
            </a:solidFill>
            <a:prstDash val="solid"/>
          </a:ln>
        </p:spPr>
      </p:sp>
      <p:sp>
        <p:nvSpPr>
          <p:cNvPr id="7" name="Text 4"/>
          <p:cNvSpPr/>
          <p:nvPr/>
        </p:nvSpPr>
        <p:spPr>
          <a:xfrm>
            <a:off x="6502400" y="2207220"/>
            <a:ext cx="502310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13D"/>
                </a:solidFill>
                <a:latin typeface="IBM Plex Sans" pitchFamily="34" charset="0"/>
                <a:ea typeface="IBM Plex Sans" pitchFamily="34" charset="-122"/>
                <a:cs typeface="IBM Plex Sans" pitchFamily="34" charset="-120"/>
              </a:rPr>
              <a:t>−10.3</a:t>
            </a:r>
            <a:endParaRPr lang="en-US" sz="3200" dirty="0"/>
          </a:p>
        </p:txBody>
      </p:sp>
      <p:sp>
        <p:nvSpPr>
          <p:cNvPr id="8" name="Text 5"/>
          <p:cNvSpPr/>
          <p:nvPr/>
        </p:nvSpPr>
        <p:spPr>
          <a:xfrm>
            <a:off x="6502400" y="2651720"/>
            <a:ext cx="502310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F1 points from seen to unseen projects (Run 1 → 2). </a:t>
            </a:r>
            <a:r>
              <a:rPr lang="en-US" sz="1400" b="1" dirty="0">
                <a:solidFill>
                  <a:srgbClr val="3A4556"/>
                </a:solidFill>
                <a:latin typeface="IBM Plex Sans" pitchFamily="34" charset="0"/>
                <a:ea typeface="IBM Plex Sans" pitchFamily="34" charset="-122"/>
                <a:cs typeface="IBM Plex Sans" pitchFamily="34" charset="-120"/>
              </a:rPr>
              <a:t>Problem reproduced.</a:t>
            </a:r>
            <a:endParaRPr lang="en-US" sz="1400" dirty="0"/>
          </a:p>
        </p:txBody>
      </p:sp>
      <p:sp>
        <p:nvSpPr>
          <p:cNvPr id="9" name="Text 6"/>
          <p:cNvSpPr/>
          <p:nvPr/>
        </p:nvSpPr>
        <p:spPr>
          <a:xfrm>
            <a:off x="6502400" y="3352738"/>
            <a:ext cx="502310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5491A"/>
                </a:solidFill>
                <a:latin typeface="IBM Plex Sans" pitchFamily="34" charset="0"/>
                <a:ea typeface="IBM Plex Sans" pitchFamily="34" charset="-122"/>
                <a:cs typeface="IBM Plex Sans" pitchFamily="34" charset="-120"/>
              </a:rPr>
              <a:t>+1.0</a:t>
            </a:r>
            <a:endParaRPr lang="en-US" sz="3200" dirty="0"/>
          </a:p>
        </p:txBody>
      </p:sp>
      <p:sp>
        <p:nvSpPr>
          <p:cNvPr id="10" name="Text 7"/>
          <p:cNvSpPr/>
          <p:nvPr/>
        </p:nvSpPr>
        <p:spPr>
          <a:xfrm>
            <a:off x="6502400" y="3797238"/>
            <a:ext cx="502310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F1 point from renaming on unseen projects (Run 2 → 4). </a:t>
            </a:r>
            <a:r>
              <a:rPr lang="en-US" sz="1400" b="1" dirty="0">
                <a:solidFill>
                  <a:srgbClr val="3A4556"/>
                </a:solidFill>
                <a:latin typeface="IBM Plex Sans" pitchFamily="34" charset="0"/>
                <a:ea typeface="IBM Plex Sans" pitchFamily="34" charset="-122"/>
                <a:cs typeface="IBM Plex Sans" pitchFamily="34" charset="-120"/>
              </a:rPr>
              <a:t>Within noise.</a:t>
            </a:r>
            <a:endParaRPr lang="en-US" sz="1400" dirty="0"/>
          </a:p>
        </p:txBody>
      </p:sp>
      <p:sp>
        <p:nvSpPr>
          <p:cNvPr id="11" name="Text 8"/>
          <p:cNvSpPr/>
          <p:nvPr/>
        </p:nvSpPr>
        <p:spPr>
          <a:xfrm>
            <a:off x="6502400" y="4498249"/>
            <a:ext cx="502310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5491A"/>
                </a:solidFill>
                <a:latin typeface="IBM Plex Sans" pitchFamily="34" charset="0"/>
                <a:ea typeface="IBM Plex Sans" pitchFamily="34" charset="-122"/>
                <a:cs typeface="IBM Plex Sans" pitchFamily="34" charset="-120"/>
              </a:rPr>
              <a:t>−6.1</a:t>
            </a:r>
            <a:endParaRPr lang="en-US" sz="3200" dirty="0"/>
          </a:p>
        </p:txBody>
      </p:sp>
      <p:sp>
        <p:nvSpPr>
          <p:cNvPr id="12" name="Text 9"/>
          <p:cNvSpPr/>
          <p:nvPr/>
        </p:nvSpPr>
        <p:spPr>
          <a:xfrm>
            <a:off x="6502400" y="4942749"/>
            <a:ext cx="502310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F1 points from renaming on known projects (Run 1 → 3). </a:t>
            </a:r>
            <a:r>
              <a:rPr lang="en-US" sz="1400" b="1" dirty="0">
                <a:solidFill>
                  <a:srgbClr val="3A4556"/>
                </a:solidFill>
                <a:latin typeface="IBM Plex Sans" pitchFamily="34" charset="0"/>
                <a:ea typeface="IBM Plex Sans" pitchFamily="34" charset="-122"/>
                <a:cs typeface="IBM Plex Sans" pitchFamily="34" charset="-120"/>
              </a:rPr>
              <a:t>Names help.</a:t>
            </a:r>
            <a:endParaRPr lang="en-US" sz="14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A CLOSER LOOK</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Renaming trades precision for recall</a:t>
            </a:r>
            <a:endParaRPr lang="en-US" sz="3200" dirty="0"/>
          </a:p>
        </p:txBody>
      </p:sp>
      <p:sp>
        <p:nvSpPr>
          <p:cNvPr id="4" name="Shape 2"/>
          <p:cNvSpPr/>
          <p:nvPr/>
        </p:nvSpPr>
        <p:spPr>
          <a:xfrm>
            <a:off x="812800" y="1823641"/>
            <a:ext cx="10566400" cy="3175000"/>
          </a:xfrm>
          <a:prstGeom prst="roundRect">
            <a:avLst>
              <a:gd name="adj" fmla="val 3200"/>
            </a:avLst>
          </a:prstGeom>
          <a:solidFill>
            <a:srgbClr val="FFFFFF"/>
          </a:solidFill>
          <a:ln/>
        </p:spPr>
      </p:sp>
      <p:pic>
        <p:nvPicPr>
          <p:cNvPr id="5" name="Image 0" descr="Grouped bars of precision, recall, F1 and false positive rate for the four runs; run 4 has the highest recall and the highest false positive rate">    </p:cNvPr>
          <p:cNvPicPr>
            <a:picLocks noChangeAspect="1"/>
          </p:cNvPicPr>
          <p:nvPr/>
        </p:nvPicPr>
        <p:blipFill>
          <a:blip r:embed="rId1"/>
          <a:stretch>
            <a:fillRect/>
          </a:stretch>
        </p:blipFill>
        <p:spPr>
          <a:xfrm>
            <a:off x="2582333" y="1829991"/>
            <a:ext cx="7027333" cy="3162300"/>
          </a:xfrm>
          <a:prstGeom prst="rect">
            <a:avLst/>
          </a:prstGeom>
        </p:spPr>
      </p:pic>
      <p:sp>
        <p:nvSpPr>
          <p:cNvPr id="6" name="Shape 3"/>
          <p:cNvSpPr/>
          <p:nvPr/>
        </p:nvSpPr>
        <p:spPr>
          <a:xfrm>
            <a:off x="815975" y="1826816"/>
            <a:ext cx="10560050" cy="3168650"/>
          </a:xfrm>
          <a:prstGeom prst="roundRect">
            <a:avLst>
              <a:gd name="adj" fmla="val 3106"/>
            </a:avLst>
          </a:prstGeom>
          <a:noFill/>
          <a:ln w="6350">
            <a:solidFill>
              <a:srgbClr val="DDE3EA"/>
            </a:solidFill>
            <a:prstDash val="solid"/>
          </a:ln>
        </p:spPr>
      </p:sp>
      <p:sp>
        <p:nvSpPr>
          <p:cNvPr id="7" name="Text 4"/>
          <p:cNvSpPr/>
          <p:nvPr/>
        </p:nvSpPr>
        <p:spPr>
          <a:xfrm>
            <a:off x="812800" y="5252641"/>
            <a:ext cx="533704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On unseen projects, renaming finds </a:t>
            </a:r>
            <a:r>
              <a:rPr lang="en-US" sz="1400" b="1" dirty="0">
                <a:solidFill>
                  <a:srgbClr val="3A4556"/>
                </a:solidFill>
                <a:latin typeface="IBM Plex Sans" pitchFamily="34" charset="0"/>
                <a:ea typeface="IBM Plex Sans" pitchFamily="34" charset="-122"/>
                <a:cs typeface="IBM Plex Sans" pitchFamily="34" charset="-120"/>
              </a:rPr>
              <a:t>~400</a:t>
            </a:r>
            <a:r>
              <a:rPr lang="en-US" sz="1400" dirty="0">
                <a:solidFill>
                  <a:srgbClr val="3A4556"/>
                </a:solidFill>
                <a:latin typeface="IBM Plex Sans" pitchFamily="34" charset="0"/>
                <a:ea typeface="IBM Plex Sans" pitchFamily="34" charset="-122"/>
                <a:cs typeface="IBM Plex Sans" pitchFamily="34" charset="-120"/>
              </a:rPr>
              <a:t> instead of </a:t>
            </a:r>
            <a:r>
              <a:rPr lang="en-US" sz="1400" b="1" dirty="0">
                <a:solidFill>
                  <a:srgbClr val="3A4556"/>
                </a:solidFill>
                <a:latin typeface="IBM Plex Sans" pitchFamily="34" charset="0"/>
                <a:ea typeface="IBM Plex Sans" pitchFamily="34" charset="-122"/>
                <a:cs typeface="IBM Plex Sans" pitchFamily="34" charset="-120"/>
              </a:rPr>
              <a:t>254</a:t>
            </a:r>
            <a:r>
              <a:rPr lang="en-US" sz="1400" dirty="0">
                <a:solidFill>
                  <a:srgbClr val="3A4556"/>
                </a:solidFill>
                <a:latin typeface="IBM Plex Sans" pitchFamily="34" charset="0"/>
                <a:ea typeface="IBM Plex Sans" pitchFamily="34" charset="-122"/>
                <a:cs typeface="IBM Plex Sans" pitchFamily="34" charset="-120"/>
              </a:rPr>
              <a:t> real bugs (recall 20% → 32%)…</a:t>
            </a:r>
            <a:endParaRPr lang="en-US" sz="1400" dirty="0"/>
          </a:p>
        </p:txBody>
      </p:sp>
      <p:sp>
        <p:nvSpPr>
          <p:cNvPr id="8" name="Text 5"/>
          <p:cNvSpPr/>
          <p:nvPr/>
        </p:nvSpPr>
        <p:spPr>
          <a:xfrm>
            <a:off x="6197600" y="5252641"/>
            <a:ext cx="533704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…but raises </a:t>
            </a:r>
            <a:r>
              <a:rPr lang="en-US" sz="1400" b="1" dirty="0">
                <a:solidFill>
                  <a:srgbClr val="3A4556"/>
                </a:solidFill>
                <a:latin typeface="IBM Plex Sans" pitchFamily="34" charset="0"/>
                <a:ea typeface="IBM Plex Sans" pitchFamily="34" charset="-122"/>
                <a:cs typeface="IBM Plex Sans" pitchFamily="34" charset="-120"/>
              </a:rPr>
              <a:t>~2,200</a:t>
            </a:r>
            <a:r>
              <a:rPr lang="en-US" sz="1400" dirty="0">
                <a:solidFill>
                  <a:srgbClr val="3A4556"/>
                </a:solidFill>
                <a:latin typeface="IBM Plex Sans" pitchFamily="34" charset="0"/>
                <a:ea typeface="IBM Plex Sans" pitchFamily="34" charset="-122"/>
                <a:cs typeface="IBM Plex Sans" pitchFamily="34" charset="-120"/>
              </a:rPr>
              <a:t> instead of </a:t>
            </a:r>
            <a:r>
              <a:rPr lang="en-US" sz="1400" b="1" dirty="0">
                <a:solidFill>
                  <a:srgbClr val="3A4556"/>
                </a:solidFill>
                <a:latin typeface="IBM Plex Sans" pitchFamily="34" charset="0"/>
                <a:ea typeface="IBM Plex Sans" pitchFamily="34" charset="-122"/>
                <a:cs typeface="IBM Plex Sans" pitchFamily="34" charset="-120"/>
              </a:rPr>
              <a:t>~1,100</a:t>
            </a:r>
            <a:r>
              <a:rPr lang="en-US" sz="1400" dirty="0">
                <a:solidFill>
                  <a:srgbClr val="3A4556"/>
                </a:solidFill>
                <a:latin typeface="IBM Plex Sans" pitchFamily="34" charset="0"/>
                <a:ea typeface="IBM Plex Sans" pitchFamily="34" charset="-122"/>
                <a:cs typeface="IBM Plex Sans" pitchFamily="34" charset="-120"/>
              </a:rPr>
              <a:t> false alarms (false positive rate 5.6% → 11.4%).</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TRAINING BEHAVIOUR</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What the training curves tell us</a:t>
            </a:r>
            <a:endParaRPr lang="en-US" sz="3200" dirty="0"/>
          </a:p>
        </p:txBody>
      </p:sp>
      <p:sp>
        <p:nvSpPr>
          <p:cNvPr id="4" name="Shape 2"/>
          <p:cNvSpPr/>
          <p:nvPr/>
        </p:nvSpPr>
        <p:spPr>
          <a:xfrm>
            <a:off x="812800" y="1823641"/>
            <a:ext cx="10566400" cy="2667000"/>
          </a:xfrm>
          <a:prstGeom prst="roundRect">
            <a:avLst>
              <a:gd name="adj" fmla="val 3810"/>
            </a:avLst>
          </a:prstGeom>
          <a:solidFill>
            <a:srgbClr val="FFFFFF"/>
          </a:solidFill>
          <a:ln/>
        </p:spPr>
      </p:sp>
      <p:pic>
        <p:nvPicPr>
          <p:cNvPr id="5" name="Image 0" descr="Training loss and validation F1 per epoch for the four runs; renamed runs keep a higher loss, run 4 dips to 1.7 percent validation F1 in epoch 2">    </p:cNvPr>
          <p:cNvPicPr>
            <a:picLocks noChangeAspect="1"/>
          </p:cNvPicPr>
          <p:nvPr/>
        </p:nvPicPr>
        <p:blipFill>
          <a:blip r:embed="rId1"/>
          <a:stretch>
            <a:fillRect/>
          </a:stretch>
        </p:blipFill>
        <p:spPr>
          <a:xfrm>
            <a:off x="2446338" y="1829991"/>
            <a:ext cx="7299325" cy="2654300"/>
          </a:xfrm>
          <a:prstGeom prst="rect">
            <a:avLst/>
          </a:prstGeom>
        </p:spPr>
      </p:pic>
      <p:sp>
        <p:nvSpPr>
          <p:cNvPr id="6" name="Shape 3"/>
          <p:cNvSpPr/>
          <p:nvPr/>
        </p:nvSpPr>
        <p:spPr>
          <a:xfrm>
            <a:off x="815975" y="1826816"/>
            <a:ext cx="10560050" cy="2660650"/>
          </a:xfrm>
          <a:prstGeom prst="roundRect">
            <a:avLst>
              <a:gd name="adj" fmla="val 3699"/>
            </a:avLst>
          </a:prstGeom>
          <a:noFill/>
          <a:ln w="6350">
            <a:solidFill>
              <a:srgbClr val="DDE3EA"/>
            </a:solidFill>
            <a:prstDash val="solid"/>
          </a:ln>
        </p:spPr>
      </p:sp>
      <p:sp>
        <p:nvSpPr>
          <p:cNvPr id="7" name="Text 4"/>
          <p:cNvSpPr/>
          <p:nvPr/>
        </p:nvSpPr>
        <p:spPr>
          <a:xfrm>
            <a:off x="812800" y="4744641"/>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Harder to learn</a:t>
            </a:r>
            <a:endParaRPr lang="en-US" sz="1500" dirty="0"/>
          </a:p>
        </p:txBody>
      </p:sp>
      <p:sp>
        <p:nvSpPr>
          <p:cNvPr id="8" name="Text 5"/>
          <p:cNvSpPr/>
          <p:nvPr/>
        </p:nvSpPr>
        <p:spPr>
          <a:xfrm>
            <a:off x="812800" y="5024041"/>
            <a:ext cx="350570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Renamed runs stay at loss 0.48–0.49, against 0.38–0.40 with names.</a:t>
            </a:r>
            <a:endParaRPr lang="en-US" sz="1300" dirty="0"/>
          </a:p>
        </p:txBody>
      </p:sp>
      <p:sp>
        <p:nvSpPr>
          <p:cNvPr id="9" name="Text 6"/>
          <p:cNvSpPr/>
          <p:nvPr/>
        </p:nvSpPr>
        <p:spPr>
          <a:xfrm>
            <a:off x="4394200" y="4744641"/>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Unstable</a:t>
            </a:r>
            <a:endParaRPr lang="en-US" sz="1500" dirty="0"/>
          </a:p>
        </p:txBody>
      </p:sp>
      <p:sp>
        <p:nvSpPr>
          <p:cNvPr id="10" name="Text 7"/>
          <p:cNvSpPr/>
          <p:nvPr/>
        </p:nvSpPr>
        <p:spPr>
          <a:xfrm>
            <a:off x="4394200" y="5024041"/>
            <a:ext cx="350570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Run 4 collapses to 1.7% validation F1 in epoch 2, then recovers.</a:t>
            </a:r>
            <a:endParaRPr lang="en-US" sz="1300" dirty="0"/>
          </a:p>
        </p:txBody>
      </p:sp>
      <p:sp>
        <p:nvSpPr>
          <p:cNvPr id="11" name="Text 8"/>
          <p:cNvSpPr/>
          <p:nvPr/>
        </p:nvSpPr>
        <p:spPr>
          <a:xfrm>
            <a:off x="7975600" y="4744641"/>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491A"/>
                </a:solidFill>
                <a:latin typeface="IBM Plex Sans" pitchFamily="34" charset="0"/>
                <a:ea typeface="IBM Plex Sans" pitchFamily="34" charset="-122"/>
                <a:cs typeface="IBM Plex Sans" pitchFamily="34" charset="-120"/>
              </a:rPr>
              <a:t>Validation hides the gap</a:t>
            </a:r>
            <a:endParaRPr lang="en-US" sz="1500" dirty="0"/>
          </a:p>
        </p:txBody>
      </p:sp>
      <p:sp>
        <p:nvSpPr>
          <p:cNvPr id="12" name="Text 9"/>
          <p:cNvSpPr/>
          <p:nvPr/>
        </p:nvSpPr>
        <p:spPr>
          <a:xfrm>
            <a:off x="7975600" y="5024041"/>
            <a:ext cx="350570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Run 2 has the best validation F1 (30.2%) but only 19.6% on unseen projects.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DISCUSSION</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Why didn’t renaming help?</a:t>
            </a:r>
            <a:endParaRPr lang="en-US" sz="3200" dirty="0"/>
          </a:p>
        </p:txBody>
      </p:sp>
      <p:sp>
        <p:nvSpPr>
          <p:cNvPr id="4" name="Shape 2"/>
          <p:cNvSpPr/>
          <p:nvPr/>
        </p:nvSpPr>
        <p:spPr>
          <a:xfrm>
            <a:off x="812800" y="1823641"/>
            <a:ext cx="5207000" cy="1191154"/>
          </a:xfrm>
          <a:prstGeom prst="roundRect">
            <a:avLst>
              <a:gd name="adj" fmla="val 8530"/>
            </a:avLst>
          </a:prstGeom>
          <a:solidFill>
            <a:srgbClr val="FFFFFF"/>
          </a:solidFill>
          <a:ln/>
        </p:spPr>
      </p:sp>
      <p:sp>
        <p:nvSpPr>
          <p:cNvPr id="5" name="Text 3"/>
          <p:cNvSpPr/>
          <p:nvPr/>
        </p:nvSpPr>
        <p:spPr>
          <a:xfrm>
            <a:off x="1041400" y="2026841"/>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Names carry meaning</a:t>
            </a:r>
            <a:endParaRPr lang="en-US" sz="1700" dirty="0"/>
          </a:p>
        </p:txBody>
      </p:sp>
      <p:sp>
        <p:nvSpPr>
          <p:cNvPr id="6" name="Text 4"/>
          <p:cNvSpPr/>
          <p:nvPr/>
        </p:nvSpPr>
        <p:spPr>
          <a:xfrm>
            <a:off x="1041400" y="2349376"/>
            <a:ext cx="4892294" cy="487627"/>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3A4556"/>
                </a:solidFill>
                <a:latin typeface="IBM Plex Sans" pitchFamily="34" charset="0"/>
                <a:ea typeface="IBM Plex Sans" pitchFamily="34" charset="-122"/>
                <a:cs typeface="IBM Plex Sans" pitchFamily="34" charset="-120"/>
              </a:rPr>
              <a:t>len</a:t>
            </a:r>
            <a:r>
              <a:rPr lang="en-US" sz="1300" dirty="0">
                <a:solidFill>
                  <a:srgbClr val="3A4556"/>
                </a:solidFill>
                <a:latin typeface="IBM Plex Sans" pitchFamily="34" charset="0"/>
                <a:ea typeface="IBM Plex Sans" pitchFamily="34" charset="-122"/>
                <a:cs typeface="IBM Plex Sans" pitchFamily="34" charset="-120"/>
              </a:rPr>
              <a:t>, </a:t>
            </a:r>
            <a:r>
              <a:rPr lang="en-US" sz="1300" i="1" dirty="0">
                <a:solidFill>
                  <a:srgbClr val="3A4556"/>
                </a:solidFill>
                <a:latin typeface="IBM Plex Sans" pitchFamily="34" charset="0"/>
                <a:ea typeface="IBM Plex Sans" pitchFamily="34" charset="-122"/>
                <a:cs typeface="IBM Plex Sans" pitchFamily="34" charset="-120"/>
              </a:rPr>
              <a:t>size</a:t>
            </a:r>
            <a:r>
              <a:rPr lang="en-US" sz="1300" dirty="0">
                <a:solidFill>
                  <a:srgbClr val="3A4556"/>
                </a:solidFill>
                <a:latin typeface="IBM Plex Sans" pitchFamily="34" charset="0"/>
                <a:ea typeface="IBM Plex Sans" pitchFamily="34" charset="-122"/>
                <a:cs typeface="IBM Plex Sans" pitchFamily="34" charset="-120"/>
              </a:rPr>
              <a:t>, </a:t>
            </a:r>
            <a:r>
              <a:rPr lang="en-US" sz="1300" i="1" dirty="0">
                <a:solidFill>
                  <a:srgbClr val="3A4556"/>
                </a:solidFill>
                <a:latin typeface="IBM Plex Sans" pitchFamily="34" charset="0"/>
                <a:ea typeface="IBM Plex Sans" pitchFamily="34" charset="-122"/>
                <a:cs typeface="IBM Plex Sans" pitchFamily="34" charset="-120"/>
              </a:rPr>
              <a:t>buf</a:t>
            </a:r>
            <a:r>
              <a:rPr lang="en-US" sz="1300" dirty="0">
                <a:solidFill>
                  <a:srgbClr val="3A4556"/>
                </a:solidFill>
                <a:latin typeface="IBM Plex Sans" pitchFamily="34" charset="0"/>
                <a:ea typeface="IBM Plex Sans" pitchFamily="34" charset="-122"/>
                <a:cs typeface="IBM Plex Sans" pitchFamily="34" charset="-120"/>
              </a:rPr>
              <a:t> tell the model what a value is. A missing check on </a:t>
            </a:r>
            <a:r>
              <a:rPr lang="en-US" sz="1300" i="1" dirty="0">
                <a:solidFill>
                  <a:srgbClr val="3A4556"/>
                </a:solidFill>
                <a:latin typeface="IBM Plex Sans" pitchFamily="34" charset="0"/>
                <a:ea typeface="IBM Plex Sans" pitchFamily="34" charset="-122"/>
                <a:cs typeface="IBM Plex Sans" pitchFamily="34" charset="-120"/>
              </a:rPr>
              <a:t>len</a:t>
            </a:r>
            <a:r>
              <a:rPr lang="en-US" sz="1300" dirty="0">
                <a:solidFill>
                  <a:srgbClr val="3A4556"/>
                </a:solidFill>
                <a:latin typeface="IBM Plex Sans" pitchFamily="34" charset="0"/>
                <a:ea typeface="IBM Plex Sans" pitchFamily="34" charset="-122"/>
                <a:cs typeface="IBM Plex Sans" pitchFamily="34" charset="-120"/>
              </a:rPr>
              <a:t> is easier to spot.</a:t>
            </a:r>
            <a:endParaRPr lang="en-US" sz="1300" dirty="0"/>
          </a:p>
        </p:txBody>
      </p:sp>
      <p:sp>
        <p:nvSpPr>
          <p:cNvPr id="7" name="Shape 5"/>
          <p:cNvSpPr/>
          <p:nvPr/>
        </p:nvSpPr>
        <p:spPr>
          <a:xfrm>
            <a:off x="6172200" y="1823641"/>
            <a:ext cx="5207000" cy="1191154"/>
          </a:xfrm>
          <a:prstGeom prst="roundRect">
            <a:avLst>
              <a:gd name="adj" fmla="val 8530"/>
            </a:avLst>
          </a:prstGeom>
          <a:solidFill>
            <a:srgbClr val="FFFFFF"/>
          </a:solidFill>
          <a:ln/>
        </p:spPr>
      </p:sp>
      <p:sp>
        <p:nvSpPr>
          <p:cNvPr id="8" name="Text 6"/>
          <p:cNvSpPr/>
          <p:nvPr/>
        </p:nvSpPr>
        <p:spPr>
          <a:xfrm>
            <a:off x="6400800" y="2026841"/>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CodeT5 was built to read names</a:t>
            </a:r>
            <a:endParaRPr lang="en-US" sz="1700" dirty="0"/>
          </a:p>
        </p:txBody>
      </p:sp>
      <p:sp>
        <p:nvSpPr>
          <p:cNvPr id="9" name="Text 7"/>
          <p:cNvSpPr/>
          <p:nvPr/>
        </p:nvSpPr>
        <p:spPr>
          <a:xfrm>
            <a:off x="6400800" y="2349376"/>
            <a:ext cx="489229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Its pre-training predicts and tags identifiers. </a:t>
            </a:r>
            <a:r>
              <a:rPr lang="en-US" sz="1300" i="1" dirty="0">
                <a:solidFill>
                  <a:srgbClr val="3A4556"/>
                </a:solidFill>
                <a:latin typeface="IBM Plex Sans" pitchFamily="34" charset="0"/>
                <a:ea typeface="IBM Plex Sans" pitchFamily="34" charset="-122"/>
                <a:cs typeface="IBM Plex Sans" pitchFamily="34" charset="-120"/>
              </a:rPr>
              <a:t>VAR_17</a:t>
            </a:r>
            <a:r>
              <a:rPr lang="en-US" sz="1300" dirty="0">
                <a:solidFill>
                  <a:srgbClr val="3A4556"/>
                </a:solidFill>
                <a:latin typeface="IBM Plex Sans" pitchFamily="34" charset="0"/>
                <a:ea typeface="IBM Plex Sans" pitchFamily="34" charset="-122"/>
                <a:cs typeface="IBM Plex Sans" pitchFamily="34" charset="-120"/>
              </a:rPr>
              <a:t> looks like nothing it has seen.</a:t>
            </a:r>
            <a:endParaRPr lang="en-US" sz="1300" dirty="0"/>
          </a:p>
        </p:txBody>
      </p:sp>
      <p:sp>
        <p:nvSpPr>
          <p:cNvPr id="10" name="Shape 8"/>
          <p:cNvSpPr/>
          <p:nvPr/>
        </p:nvSpPr>
        <p:spPr>
          <a:xfrm>
            <a:off x="812800" y="3167199"/>
            <a:ext cx="5207000" cy="1191154"/>
          </a:xfrm>
          <a:prstGeom prst="roundRect">
            <a:avLst>
              <a:gd name="adj" fmla="val 8530"/>
            </a:avLst>
          </a:prstGeom>
          <a:solidFill>
            <a:srgbClr val="FFFFFF"/>
          </a:solidFill>
          <a:ln/>
        </p:spPr>
      </p:sp>
      <p:sp>
        <p:nvSpPr>
          <p:cNvPr id="11" name="Text 9"/>
          <p:cNvSpPr/>
          <p:nvPr/>
        </p:nvSpPr>
        <p:spPr>
          <a:xfrm>
            <a:off x="1041400" y="3370399"/>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Projects differ in more than names</a:t>
            </a:r>
            <a:endParaRPr lang="en-US" sz="1700" dirty="0"/>
          </a:p>
        </p:txBody>
      </p:sp>
      <p:sp>
        <p:nvSpPr>
          <p:cNvPr id="12" name="Text 10"/>
          <p:cNvSpPr/>
          <p:nvPr/>
        </p:nvSpPr>
        <p:spPr>
          <a:xfrm>
            <a:off x="1041400" y="3692922"/>
            <a:ext cx="489229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Coding style, macros, function structure and length all survive renaming.</a:t>
            </a:r>
            <a:endParaRPr lang="en-US" sz="1300" dirty="0"/>
          </a:p>
        </p:txBody>
      </p:sp>
      <p:sp>
        <p:nvSpPr>
          <p:cNvPr id="13" name="Shape 11"/>
          <p:cNvSpPr/>
          <p:nvPr/>
        </p:nvSpPr>
        <p:spPr>
          <a:xfrm>
            <a:off x="6172200" y="3167199"/>
            <a:ext cx="5207000" cy="1191154"/>
          </a:xfrm>
          <a:prstGeom prst="roundRect">
            <a:avLst>
              <a:gd name="adj" fmla="val 8530"/>
            </a:avLst>
          </a:prstGeom>
          <a:solidFill>
            <a:srgbClr val="FFFFFF"/>
          </a:solidFill>
          <a:ln/>
        </p:spPr>
      </p:sp>
      <p:sp>
        <p:nvSpPr>
          <p:cNvPr id="14" name="Text 12"/>
          <p:cNvSpPr/>
          <p:nvPr/>
        </p:nvSpPr>
        <p:spPr>
          <a:xfrm>
            <a:off x="6400800" y="3370399"/>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The threshold doesn’t transfer</a:t>
            </a:r>
            <a:endParaRPr lang="en-US" sz="1700" dirty="0"/>
          </a:p>
        </p:txBody>
      </p:sp>
      <p:sp>
        <p:nvSpPr>
          <p:cNvPr id="15" name="Text 13"/>
          <p:cNvSpPr/>
          <p:nvPr/>
        </p:nvSpPr>
        <p:spPr>
          <a:xfrm>
            <a:off x="6400800" y="3692922"/>
            <a:ext cx="489229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It’s tuned on seen projects; on new ones it flags far too much.</a:t>
            </a:r>
            <a:endParaRPr lang="en-US" sz="1300" dirty="0"/>
          </a:p>
        </p:txBody>
      </p:sp>
      <p:sp>
        <p:nvSpPr>
          <p:cNvPr id="16" name="Shape 14"/>
          <p:cNvSpPr/>
          <p:nvPr/>
        </p:nvSpPr>
        <p:spPr>
          <a:xfrm>
            <a:off x="812800" y="4612357"/>
            <a:ext cx="10566400" cy="939800"/>
          </a:xfrm>
          <a:prstGeom prst="roundRect">
            <a:avLst>
              <a:gd name="adj" fmla="val 8108"/>
            </a:avLst>
          </a:prstGeom>
          <a:solidFill>
            <a:srgbClr val="14213D"/>
          </a:solidFill>
          <a:ln/>
        </p:spPr>
      </p:sp>
      <p:pic>
        <p:nvPicPr>
          <p:cNvPr id="17" name="Image 0" descr="Warning">    </p:cNvPr>
          <p:cNvPicPr>
            <a:picLocks noChangeAspect="1"/>
          </p:cNvPicPr>
          <p:nvPr/>
        </p:nvPicPr>
        <p:blipFill>
          <a:blip r:embed="rId1"/>
          <a:srcRect l="0" r="0" t="-402" b="-402"/>
          <a:stretch/>
        </p:blipFill>
        <p:spPr>
          <a:xfrm>
            <a:off x="1066800" y="4904457"/>
            <a:ext cx="321270" cy="355600"/>
          </a:xfrm>
          <a:prstGeom prst="rect">
            <a:avLst/>
          </a:prstGeom>
        </p:spPr>
      </p:pic>
      <p:sp>
        <p:nvSpPr>
          <p:cNvPr id="18" name="Text 15"/>
          <p:cNvSpPr/>
          <p:nvPr/>
        </p:nvSpPr>
        <p:spPr>
          <a:xfrm>
            <a:off x="1540470" y="4815557"/>
            <a:ext cx="987227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6F2"/>
                </a:solidFill>
                <a:latin typeface="IBM Plex Sans" pitchFamily="34" charset="0"/>
                <a:ea typeface="IBM Plex Sans" pitchFamily="34" charset="-122"/>
                <a:cs typeface="IBM Plex Sans" pitchFamily="34" charset="-120"/>
              </a:rPr>
              <a:t>Answer to RQ3:</a:t>
            </a:r>
            <a:r>
              <a:rPr lang="en-US" sz="1500" dirty="0">
                <a:solidFill>
                  <a:srgbClr val="F7F6F2"/>
                </a:solidFill>
                <a:latin typeface="IBM Plex Sans" pitchFamily="34" charset="0"/>
                <a:ea typeface="IBM Plex Sans" pitchFamily="34" charset="-122"/>
                <a:cs typeface="IBM Plex Sans" pitchFamily="34" charset="-120"/>
              </a:rPr>
              <a:t> no. The paper’s guess that models fail because they memorize project names is </a:t>
            </a:r>
            <a:r>
              <a:rPr lang="en-US" sz="1500" b="1" dirty="0">
                <a:solidFill>
                  <a:srgbClr val="F7F6F2"/>
                </a:solidFill>
                <a:latin typeface="IBM Plex Sans" pitchFamily="34" charset="0"/>
                <a:ea typeface="IBM Plex Sans" pitchFamily="34" charset="-122"/>
                <a:cs typeface="IBM Plex Sans" pitchFamily="34" charset="-120"/>
              </a:rPr>
              <a:t>not supported</a:t>
            </a:r>
            <a:r>
              <a:rPr lang="en-US" sz="1500" dirty="0">
                <a:solidFill>
                  <a:srgbClr val="F7F6F2"/>
                </a:solidFill>
                <a:latin typeface="IBM Plex Sans" pitchFamily="34" charset="0"/>
                <a:ea typeface="IBM Plex Sans" pitchFamily="34" charset="-122"/>
                <a:cs typeface="IBM Plex Sans" pitchFamily="34" charset="-120"/>
              </a:rPr>
              <a:t> in our setup.</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SOFTWARE ENGINEERING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How we built it: no GPU, still reproducible</a:t>
            </a:r>
            <a:endParaRPr lang="en-US" sz="3200" dirty="0"/>
          </a:p>
        </p:txBody>
      </p:sp>
      <p:sp>
        <p:nvSpPr>
          <p:cNvPr id="4" name="Shape 2"/>
          <p:cNvSpPr/>
          <p:nvPr/>
        </p:nvSpPr>
        <p:spPr>
          <a:xfrm>
            <a:off x="812800" y="1951906"/>
            <a:ext cx="2260600" cy="840714"/>
          </a:xfrm>
          <a:prstGeom prst="roundRect">
            <a:avLst>
              <a:gd name="adj" fmla="val 12085"/>
            </a:avLst>
          </a:prstGeom>
          <a:solidFill>
            <a:srgbClr val="DCE8F6"/>
          </a:solidFill>
          <a:ln/>
        </p:spPr>
      </p:sp>
      <p:sp>
        <p:nvSpPr>
          <p:cNvPr id="5" name="Text 3"/>
          <p:cNvSpPr/>
          <p:nvPr/>
        </p:nvSpPr>
        <p:spPr>
          <a:xfrm>
            <a:off x="990600" y="2129706"/>
            <a:ext cx="19621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Laptop</a:t>
            </a:r>
            <a:endParaRPr lang="en-US" sz="1500" dirty="0"/>
          </a:p>
        </p:txBody>
      </p:sp>
      <p:sp>
        <p:nvSpPr>
          <p:cNvPr id="6" name="Text 4"/>
          <p:cNvSpPr/>
          <p:nvPr/>
        </p:nvSpPr>
        <p:spPr>
          <a:xfrm>
            <a:off x="990600" y="2409106"/>
            <a:ext cx="196215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write and test code</a:t>
            </a:r>
            <a:endParaRPr lang="en-US" sz="1200" dirty="0"/>
          </a:p>
        </p:txBody>
      </p:sp>
      <p:pic>
        <p:nvPicPr>
          <p:cNvPr id="7" name="Image 0" descr="arrow-right">    </p:cNvPr>
          <p:cNvPicPr>
            <a:picLocks noChangeAspect="1"/>
          </p:cNvPicPr>
          <p:nvPr/>
        </p:nvPicPr>
        <p:blipFill>
          <a:blip r:embed="rId1"/>
          <a:srcRect l="0" r="0" t="0" b="0"/>
          <a:stretch/>
        </p:blipFill>
        <p:spPr>
          <a:xfrm>
            <a:off x="3175000" y="2283358"/>
            <a:ext cx="304800" cy="177800"/>
          </a:xfrm>
          <a:prstGeom prst="rect">
            <a:avLst/>
          </a:prstGeom>
        </p:spPr>
      </p:pic>
      <p:sp>
        <p:nvSpPr>
          <p:cNvPr id="8" name="Shape 5"/>
          <p:cNvSpPr/>
          <p:nvPr/>
        </p:nvSpPr>
        <p:spPr>
          <a:xfrm>
            <a:off x="3581400" y="1951906"/>
            <a:ext cx="2260600" cy="840714"/>
          </a:xfrm>
          <a:prstGeom prst="roundRect">
            <a:avLst>
              <a:gd name="adj" fmla="val 12085"/>
            </a:avLst>
          </a:prstGeom>
          <a:solidFill>
            <a:srgbClr val="DCE8F6"/>
          </a:solidFill>
          <a:ln/>
        </p:spPr>
      </p:sp>
      <p:sp>
        <p:nvSpPr>
          <p:cNvPr id="9" name="Text 6"/>
          <p:cNvSpPr/>
          <p:nvPr/>
        </p:nvSpPr>
        <p:spPr>
          <a:xfrm>
            <a:off x="3759200" y="2129706"/>
            <a:ext cx="19621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GitHub</a:t>
            </a:r>
            <a:endParaRPr lang="en-US" sz="1500" dirty="0"/>
          </a:p>
        </p:txBody>
      </p:sp>
      <p:sp>
        <p:nvSpPr>
          <p:cNvPr id="10" name="Text 7"/>
          <p:cNvSpPr/>
          <p:nvPr/>
        </p:nvSpPr>
        <p:spPr>
          <a:xfrm>
            <a:off x="3759200" y="2409106"/>
            <a:ext cx="196215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one source of truth</a:t>
            </a:r>
            <a:endParaRPr lang="en-US" sz="1200" dirty="0"/>
          </a:p>
        </p:txBody>
      </p:sp>
      <p:pic>
        <p:nvPicPr>
          <p:cNvPr id="11" name="Image 1" descr="arrow-right">    </p:cNvPr>
          <p:cNvPicPr>
            <a:picLocks noChangeAspect="1"/>
          </p:cNvPicPr>
          <p:nvPr/>
        </p:nvPicPr>
        <p:blipFill>
          <a:blip r:embed="rId2"/>
          <a:srcRect l="0" r="0" t="0" b="0"/>
          <a:stretch/>
        </p:blipFill>
        <p:spPr>
          <a:xfrm>
            <a:off x="5943600" y="2283358"/>
            <a:ext cx="304800" cy="177800"/>
          </a:xfrm>
          <a:prstGeom prst="rect">
            <a:avLst/>
          </a:prstGeom>
        </p:spPr>
      </p:pic>
      <p:sp>
        <p:nvSpPr>
          <p:cNvPr id="12" name="Shape 8"/>
          <p:cNvSpPr/>
          <p:nvPr/>
        </p:nvSpPr>
        <p:spPr>
          <a:xfrm>
            <a:off x="6350000" y="1951906"/>
            <a:ext cx="2260600" cy="840714"/>
          </a:xfrm>
          <a:prstGeom prst="roundRect">
            <a:avLst>
              <a:gd name="adj" fmla="val 12085"/>
            </a:avLst>
          </a:prstGeom>
          <a:solidFill>
            <a:srgbClr val="FBE3D3"/>
          </a:solidFill>
          <a:ln/>
        </p:spPr>
      </p:sp>
      <p:sp>
        <p:nvSpPr>
          <p:cNvPr id="13" name="Text 9"/>
          <p:cNvSpPr/>
          <p:nvPr/>
        </p:nvSpPr>
        <p:spPr>
          <a:xfrm>
            <a:off x="6527800" y="2129706"/>
            <a:ext cx="19621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Colab GPU</a:t>
            </a:r>
            <a:endParaRPr lang="en-US" sz="1500" dirty="0"/>
          </a:p>
        </p:txBody>
      </p:sp>
      <p:sp>
        <p:nvSpPr>
          <p:cNvPr id="14" name="Text 10"/>
          <p:cNvSpPr/>
          <p:nvPr/>
        </p:nvSpPr>
        <p:spPr>
          <a:xfrm>
            <a:off x="6527800" y="2409106"/>
            <a:ext cx="196215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clones the repo, trains</a:t>
            </a:r>
            <a:endParaRPr lang="en-US" sz="1200" dirty="0"/>
          </a:p>
        </p:txBody>
      </p:sp>
      <p:pic>
        <p:nvPicPr>
          <p:cNvPr id="15" name="Image 2" descr="arrow-right">    </p:cNvPr>
          <p:cNvPicPr>
            <a:picLocks noChangeAspect="1"/>
          </p:cNvPicPr>
          <p:nvPr/>
        </p:nvPicPr>
        <p:blipFill>
          <a:blip r:embed="rId3"/>
          <a:srcRect l="0" r="0" t="0" b="0"/>
          <a:stretch/>
        </p:blipFill>
        <p:spPr>
          <a:xfrm>
            <a:off x="8712200" y="2283358"/>
            <a:ext cx="304800" cy="177800"/>
          </a:xfrm>
          <a:prstGeom prst="rect">
            <a:avLst/>
          </a:prstGeom>
        </p:spPr>
      </p:pic>
      <p:sp>
        <p:nvSpPr>
          <p:cNvPr id="16" name="Shape 11"/>
          <p:cNvSpPr/>
          <p:nvPr/>
        </p:nvSpPr>
        <p:spPr>
          <a:xfrm>
            <a:off x="9118600" y="1849041"/>
            <a:ext cx="2260600" cy="1046427"/>
          </a:xfrm>
          <a:prstGeom prst="roundRect">
            <a:avLst>
              <a:gd name="adj" fmla="val 9709"/>
            </a:avLst>
          </a:prstGeom>
          <a:solidFill>
            <a:srgbClr val="FBE3D3"/>
          </a:solidFill>
          <a:ln/>
        </p:spPr>
      </p:sp>
      <p:sp>
        <p:nvSpPr>
          <p:cNvPr id="17" name="Text 12"/>
          <p:cNvSpPr/>
          <p:nvPr/>
        </p:nvSpPr>
        <p:spPr>
          <a:xfrm>
            <a:off x="9296400" y="2026841"/>
            <a:ext cx="19621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Evidence</a:t>
            </a:r>
            <a:endParaRPr lang="en-US" sz="1500" dirty="0"/>
          </a:p>
        </p:txBody>
      </p:sp>
      <p:sp>
        <p:nvSpPr>
          <p:cNvPr id="18" name="Text 13"/>
          <p:cNvSpPr/>
          <p:nvPr/>
        </p:nvSpPr>
        <p:spPr>
          <a:xfrm>
            <a:off x="9296400" y="2306241"/>
            <a:ext cx="196215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556"/>
                </a:solidFill>
                <a:latin typeface="IBM Plex Sans" pitchFamily="34" charset="0"/>
                <a:ea typeface="IBM Plex Sans" pitchFamily="34" charset="-122"/>
                <a:cs typeface="IBM Plex Sans" pitchFamily="34" charset="-120"/>
              </a:rPr>
              <a:t>executed notebook committed</a:t>
            </a:r>
            <a:endParaRPr lang="en-US" sz="1200" dirty="0"/>
          </a:p>
        </p:txBody>
      </p:sp>
      <p:sp>
        <p:nvSpPr>
          <p:cNvPr id="19" name="Shape 14"/>
          <p:cNvSpPr/>
          <p:nvPr/>
        </p:nvSpPr>
        <p:spPr>
          <a:xfrm>
            <a:off x="815975" y="3178051"/>
            <a:ext cx="3414183" cy="1178057"/>
          </a:xfrm>
          <a:prstGeom prst="roundRect">
            <a:avLst>
              <a:gd name="adj" fmla="val 8355"/>
            </a:avLst>
          </a:prstGeom>
          <a:solidFill>
            <a:srgbClr val="FFFFFF"/>
          </a:solidFill>
          <a:ln w="6350">
            <a:solidFill>
              <a:srgbClr val="DDE3EA"/>
            </a:solidFill>
            <a:prstDash val="solid"/>
          </a:ln>
        </p:spPr>
      </p:sp>
      <p:sp>
        <p:nvSpPr>
          <p:cNvPr id="20" name="Text 15"/>
          <p:cNvSpPr/>
          <p:nvPr/>
        </p:nvSpPr>
        <p:spPr>
          <a:xfrm>
            <a:off x="1020233" y="3382305"/>
            <a:ext cx="30958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Small, modular scripts</a:t>
            </a:r>
            <a:endParaRPr lang="en-US" sz="1600" dirty="0"/>
          </a:p>
        </p:txBody>
      </p:sp>
      <p:sp>
        <p:nvSpPr>
          <p:cNvPr id="21" name="Text 16"/>
          <p:cNvSpPr/>
          <p:nvPr/>
        </p:nvSpPr>
        <p:spPr>
          <a:xfrm>
            <a:off x="1020233" y="3689623"/>
            <a:ext cx="309583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One job per script, 20–115 lines each, easy to explain and rerun.</a:t>
            </a:r>
            <a:endParaRPr lang="en-US" sz="1300" dirty="0"/>
          </a:p>
        </p:txBody>
      </p:sp>
      <p:sp>
        <p:nvSpPr>
          <p:cNvPr id="22" name="Shape 17"/>
          <p:cNvSpPr/>
          <p:nvPr/>
        </p:nvSpPr>
        <p:spPr>
          <a:xfrm>
            <a:off x="4388908" y="3178051"/>
            <a:ext cx="3414183" cy="1178057"/>
          </a:xfrm>
          <a:prstGeom prst="roundRect">
            <a:avLst>
              <a:gd name="adj" fmla="val 8355"/>
            </a:avLst>
          </a:prstGeom>
          <a:solidFill>
            <a:srgbClr val="FFFFFF"/>
          </a:solidFill>
          <a:ln w="6350">
            <a:solidFill>
              <a:srgbClr val="DDE3EA"/>
            </a:solidFill>
            <a:prstDash val="solid"/>
          </a:ln>
        </p:spPr>
      </p:sp>
      <p:sp>
        <p:nvSpPr>
          <p:cNvPr id="23" name="Text 18"/>
          <p:cNvSpPr/>
          <p:nvPr/>
        </p:nvSpPr>
        <p:spPr>
          <a:xfrm>
            <a:off x="4593167" y="3382305"/>
            <a:ext cx="30958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Version control</a:t>
            </a:r>
            <a:endParaRPr lang="en-US" sz="1600" dirty="0"/>
          </a:p>
        </p:txBody>
      </p:sp>
      <p:sp>
        <p:nvSpPr>
          <p:cNvPr id="24" name="Text 19"/>
          <p:cNvSpPr/>
          <p:nvPr/>
        </p:nvSpPr>
        <p:spPr>
          <a:xfrm>
            <a:off x="4593167" y="3689623"/>
            <a:ext cx="309583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Feature branches and pull requests for steps 1–4; every commit says why.</a:t>
            </a:r>
            <a:endParaRPr lang="en-US" sz="1300" dirty="0"/>
          </a:p>
        </p:txBody>
      </p:sp>
      <p:sp>
        <p:nvSpPr>
          <p:cNvPr id="25" name="Shape 20"/>
          <p:cNvSpPr/>
          <p:nvPr/>
        </p:nvSpPr>
        <p:spPr>
          <a:xfrm>
            <a:off x="7961842" y="3178051"/>
            <a:ext cx="3414183" cy="1178057"/>
          </a:xfrm>
          <a:prstGeom prst="roundRect">
            <a:avLst>
              <a:gd name="adj" fmla="val 8355"/>
            </a:avLst>
          </a:prstGeom>
          <a:solidFill>
            <a:srgbClr val="FFFFFF"/>
          </a:solidFill>
          <a:ln w="6350">
            <a:solidFill>
              <a:srgbClr val="DDE3EA"/>
            </a:solidFill>
            <a:prstDash val="solid"/>
          </a:ln>
        </p:spPr>
      </p:sp>
      <p:sp>
        <p:nvSpPr>
          <p:cNvPr id="26" name="Text 21"/>
          <p:cNvSpPr/>
          <p:nvPr/>
        </p:nvSpPr>
        <p:spPr>
          <a:xfrm>
            <a:off x="8166100" y="3382305"/>
            <a:ext cx="30958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Reproducibility</a:t>
            </a:r>
            <a:endParaRPr lang="en-US" sz="1600" dirty="0"/>
          </a:p>
        </p:txBody>
      </p:sp>
      <p:sp>
        <p:nvSpPr>
          <p:cNvPr id="27" name="Text 22"/>
          <p:cNvSpPr/>
          <p:nvPr/>
        </p:nvSpPr>
        <p:spPr>
          <a:xfrm>
            <a:off x="8166100" y="3689623"/>
            <a:ext cx="309583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Fixed seed 42, pinned library versions, data rebuilt by scripts.</a:t>
            </a:r>
            <a:endParaRPr lang="en-US" sz="1300" dirty="0"/>
          </a:p>
        </p:txBody>
      </p:sp>
      <p:sp>
        <p:nvSpPr>
          <p:cNvPr id="28"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DEBUGGING LOG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Problems we hit, and how we fixed them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515129"/>
        </p:xfrm>
        <a:graphic>
          <a:graphicData uri="http://schemas.openxmlformats.org/drawingml/2006/table">
            <a:tbl>
              <a:tblPr/>
              <a:tblGrid>
                <a:gridCol w="3799332"/>
                <a:gridCol w="3588258"/>
                <a:gridCol w="3166110"/>
              </a:tblGrid>
              <a:tr h="359304">
                <a:tc>
                  <a:txBody>
                    <a:bodyPr/>
                    <a:lstStyle/>
                    <a:p>
                      <a:pPr indent="0" marL="0">
                        <a:lnSpc>
                          <a:spcPts val="1820"/>
                        </a:lnSpc>
                        <a:buNone/>
                      </a:pPr>
                      <a:r>
                        <a:rPr lang="en-US" sz="1300" b="1" dirty="0">
                          <a:solidFill>
                            <a:srgbClr val="3A4556"/>
                          </a:solidFill>
                          <a:latin typeface="IBM Plex Sans" pitchFamily="34" charset="0"/>
                          <a:ea typeface="IBM Plex Sans" pitchFamily="34" charset="-122"/>
                          <a:cs typeface="IBM Plex Sans" pitchFamily="34" charset="-120"/>
                        </a:rPr>
                        <a:t>Symptom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3A4556"/>
                          </a:solidFill>
                          <a:latin typeface="IBM Plex Sans" pitchFamily="34" charset="0"/>
                          <a:ea typeface="IBM Plex Sans" pitchFamily="34" charset="-122"/>
                          <a:cs typeface="IBM Plex Sans" pitchFamily="34" charset="-120"/>
                        </a:rPr>
                        <a:t>Root 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3A4556"/>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Loader crash: “Value is too big”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128-bit hash field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read the file line by 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Tokenizer won’t load on Colab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Colab ships Transformers 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pin version below 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“Same number of eos tokens”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code containing the text &lt;/s&gt;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strip it before tokenizing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Evaluation could run out of memory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model returns hidden states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keep only the scores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Model barely learned (F1 0.28)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learning rate too low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5e-5 → 1e-4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04">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Run 3 lost mid-training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free GPU daily limit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rerun next day; save each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60547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Two of the six came from the </a:t>
            </a:r>
            <a:r>
              <a:rPr lang="en-US" sz="1400" b="1" dirty="0">
                <a:solidFill>
                  <a:srgbClr val="3A4556"/>
                </a:solidFill>
                <a:latin typeface="IBM Plex Sans" pitchFamily="34" charset="0"/>
                <a:ea typeface="IBM Plex Sans" pitchFamily="34" charset="-122"/>
                <a:cs typeface="IBM Plex Sans" pitchFamily="34" charset="-120"/>
              </a:rPr>
              <a:t>cloud environment</a:t>
            </a:r>
            <a:r>
              <a:rPr lang="en-US" sz="1400" dirty="0">
                <a:solidFill>
                  <a:srgbClr val="3A4556"/>
                </a:solidFill>
                <a:latin typeface="IBM Plex Sans" pitchFamily="34" charset="0"/>
                <a:ea typeface="IBM Plex Sans" pitchFamily="34" charset="-122"/>
                <a:cs typeface="IBM Plex Sans" pitchFamily="34" charset="-120"/>
              </a:rPr>
              <a:t> (a silent library update, a GPU limit), not from our code.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0"/>
                </a:solidFill>
                <a:latin typeface="IBM Plex Sans" pitchFamily="34" charset="0"/>
                <a:ea typeface="IBM Plex Sans" pitchFamily="34" charset="-122"/>
                <a:cs typeface="IBM Plex Sans" pitchFamily="34" charset="-120"/>
              </a:rPr>
              <a:t>HONEST LIMITS · WHAT’S NEXT</a:t>
            </a:r>
            <a:endParaRPr lang="en-US" sz="1200" dirty="0"/>
          </a:p>
        </p:txBody>
      </p:sp>
      <p:sp>
        <p:nvSpPr>
          <p:cNvPr id="3" name="Text 1"/>
          <p:cNvSpPr/>
          <p:nvPr>
            <p:ph type="title"/>
          </p:nvPr>
        </p:nvSpPr>
        <p:spPr>
          <a:xfrm>
            <a:off x="812800" y="11023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Why our F1 is lower than the paper’s, and what we’d do next</a:t>
            </a:r>
            <a:endParaRPr lang="en-US" sz="3200" dirty="0"/>
          </a:p>
        </p:txBody>
      </p:sp>
      <p:sp>
        <p:nvSpPr>
          <p:cNvPr id="4" name="Text 2"/>
          <p:cNvSpPr/>
          <p:nvPr/>
        </p:nvSpPr>
        <p:spPr>
          <a:xfrm>
            <a:off x="812800" y="2316361"/>
            <a:ext cx="528472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91A"/>
                </a:solidFill>
                <a:latin typeface="IBM Plex Sans" pitchFamily="34" charset="0"/>
                <a:ea typeface="IBM Plex Sans" pitchFamily="34" charset="-122"/>
                <a:cs typeface="IBM Plex Sans" pitchFamily="34" charset="-120"/>
              </a:rPr>
              <a:t>Limitations</a:t>
            </a:r>
            <a:endParaRPr lang="en-US" sz="1800" dirty="0"/>
          </a:p>
        </p:txBody>
      </p:sp>
      <p:sp>
        <p:nvSpPr>
          <p:cNvPr id="5" name="Text 3"/>
          <p:cNvSpPr/>
          <p:nvPr/>
        </p:nvSpPr>
        <p:spPr>
          <a:xfrm>
            <a:off x="891032" y="2717676"/>
            <a:ext cx="5198872"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256-token inputs cut off long vulnerable functions</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~57K training functions for 3 epochs; the paper trained on ~419K</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One run per setting: a 1-point gap may be noise</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One model, one dataset, C/C++ only</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Most label noise remains: we fix only one kind</a:t>
            </a:r>
            <a:endParaRPr lang="en-US" sz="1400" dirty="0"/>
          </a:p>
        </p:txBody>
      </p:sp>
      <p:sp>
        <p:nvSpPr>
          <p:cNvPr id="6" name="Text 4"/>
          <p:cNvSpPr/>
          <p:nvPr/>
        </p:nvSpPr>
        <p:spPr>
          <a:xfrm>
            <a:off x="6248400" y="2316361"/>
            <a:ext cx="528472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B0"/>
                </a:solidFill>
                <a:latin typeface="IBM Plex Sans" pitchFamily="34" charset="0"/>
                <a:ea typeface="IBM Plex Sans" pitchFamily="34" charset="-122"/>
                <a:cs typeface="IBM Plex Sans" pitchFamily="34" charset="-120"/>
              </a:rPr>
              <a:t>Future work</a:t>
            </a:r>
            <a:endParaRPr lang="en-US" sz="1800" dirty="0"/>
          </a:p>
        </p:txBody>
      </p:sp>
      <p:sp>
        <p:nvSpPr>
          <p:cNvPr id="7" name="Text 5"/>
          <p:cNvSpPr/>
          <p:nvPr/>
        </p:nvSpPr>
        <p:spPr>
          <a:xfrm>
            <a:off x="6326632" y="2717676"/>
            <a:ext cx="5198872" cy="131425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Repeat runs with several seeds</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Partial renaming: drop prefixes like </a:t>
            </a:r>
            <a:r>
              <a:rPr lang="en-US" sz="1400" i="1" dirty="0">
                <a:solidFill>
                  <a:srgbClr val="3A4556"/>
                </a:solidFill>
                <a:latin typeface="IBM Plex Sans" pitchFamily="34" charset="0"/>
                <a:ea typeface="IBM Plex Sans" pitchFamily="34" charset="-122"/>
                <a:cs typeface="IBM Plex Sans" pitchFamily="34" charset="-120"/>
              </a:rPr>
              <a:t>png_</a:t>
            </a:r>
            <a:r>
              <a:rPr lang="en-US" sz="1400" dirty="0">
                <a:solidFill>
                  <a:srgbClr val="3A4556"/>
                </a:solidFill>
                <a:latin typeface="IBM Plex Sans" pitchFamily="34" charset="0"/>
                <a:ea typeface="IBM Plex Sans" pitchFamily="34" charset="-122"/>
                <a:cs typeface="IBM Plex Sans" pitchFamily="34" charset="-120"/>
              </a:rPr>
              <a:t>, keep words like </a:t>
            </a:r>
            <a:r>
              <a:rPr lang="en-US" sz="1400" i="1" dirty="0">
                <a:solidFill>
                  <a:srgbClr val="3A4556"/>
                </a:solidFill>
                <a:latin typeface="IBM Plex Sans" pitchFamily="34" charset="0"/>
                <a:ea typeface="IBM Plex Sans" pitchFamily="34" charset="-122"/>
                <a:cs typeface="IBM Plex Sans" pitchFamily="34" charset="-120"/>
              </a:rPr>
              <a:t>len</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Choose the threshold on held-out projects</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Longer inputs and full data on a bigger GPU</a:t>
            </a:r>
            <a:endParaRPr lang="en-US" sz="1400" dirty="0"/>
          </a:p>
          <a:p>
            <a:pPr algn="l" marL="175768" indent="-175768">
              <a:lnSpc>
                <a:spcPts val="2030"/>
              </a:lnSpc>
              <a:buSzPct val="100000"/>
              <a:buChar char="•"/>
            </a:pPr>
            <a:r>
              <a:rPr lang="en-US" sz="1400" dirty="0">
                <a:solidFill>
                  <a:srgbClr val="3A4556"/>
                </a:solidFill>
                <a:latin typeface="IBM Plex Sans" pitchFamily="34" charset="0"/>
                <a:ea typeface="IBM Plex Sans" pitchFamily="34" charset="-122"/>
                <a:cs typeface="IBM Plex Sans" pitchFamily="34" charset="-120"/>
              </a:rPr>
              <a:t>Stricter datasets such as PrimeVul</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7"/>
                </a:solidFill>
                <a:latin typeface="IBM Plex Sans" pitchFamily="34" charset="0"/>
                <a:ea typeface="IBM Plex Sans" pitchFamily="34" charset="-122"/>
                <a:cs typeface="IBM Plex Sans" pitchFamily="34" charset="-120"/>
              </a:rPr>
              <a:t>Do Vulnerability Detectors Memorize Names?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672"/>
                </a:solidFill>
                <a:latin typeface="IBM Plex Sans" pitchFamily="34" charset="0"/>
                <a:ea typeface="IBM Plex Sans" pitchFamily="34" charset="-122"/>
                <a:cs typeface="IBM Plex Sans" pitchFamily="34" charset="-120"/>
              </a:rPr>
              <a:t>TAKEAWAYS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6F2"/>
                </a:solidFill>
                <a:latin typeface="IBM Plex Sans" pitchFamily="34" charset="0"/>
                <a:ea typeface="IBM Plex Sans" pitchFamily="34" charset="-122"/>
                <a:cs typeface="IBM Plex Sans" pitchFamily="34" charset="-120"/>
              </a:rPr>
              <a:t>Three things to remember</a:t>
            </a:r>
            <a:endParaRPr lang="en-US" sz="3200" dirty="0"/>
          </a:p>
        </p:txBody>
      </p:sp>
      <p:sp>
        <p:nvSpPr>
          <p:cNvPr id="4" name="Text 2"/>
          <p:cNvSpPr/>
          <p:nvPr/>
        </p:nvSpPr>
        <p:spPr>
          <a:xfrm>
            <a:off x="812800" y="1925241"/>
            <a:ext cx="65841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672"/>
                </a:solidFill>
                <a:latin typeface="IBM Plex Sans" pitchFamily="34" charset="0"/>
                <a:ea typeface="IBM Plex Sans" pitchFamily="34" charset="-122"/>
                <a:cs typeface="IBM Plex Sans" pitchFamily="34" charset="-120"/>
              </a:rPr>
              <a:t>01</a:t>
            </a:r>
            <a:endParaRPr lang="en-US" sz="3600" dirty="0"/>
          </a:p>
        </p:txBody>
      </p:sp>
      <p:sp>
        <p:nvSpPr>
          <p:cNvPr id="5" name="Text 3"/>
          <p:cNvSpPr/>
          <p:nvPr/>
        </p:nvSpPr>
        <p:spPr>
          <a:xfrm>
            <a:off x="1615480" y="1925241"/>
            <a:ext cx="5349039"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7F6F2"/>
                </a:solidFill>
                <a:latin typeface="IBM Plex Sans" pitchFamily="34" charset="0"/>
                <a:ea typeface="IBM Plex Sans" pitchFamily="34" charset="-122"/>
                <a:cs typeface="IBM Plex Sans" pitchFamily="34" charset="-120"/>
              </a:rPr>
              <a:t>Data quality is a software problem</a:t>
            </a:r>
            <a:endParaRPr lang="en-US" sz="1800" dirty="0"/>
          </a:p>
        </p:txBody>
      </p:sp>
      <p:sp>
        <p:nvSpPr>
          <p:cNvPr id="6" name="Text 4"/>
          <p:cNvSpPr/>
          <p:nvPr/>
        </p:nvSpPr>
        <p:spPr>
          <a:xfrm>
            <a:off x="1615480" y="2296058"/>
            <a:ext cx="623189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5"/>
                </a:solidFill>
                <a:latin typeface="IBM Plex Sans" pitchFamily="34" charset="0"/>
                <a:ea typeface="IBM Plex Sans" pitchFamily="34" charset="-122"/>
                <a:cs typeface="IBM Plex Sans" pitchFamily="34" charset="-120"/>
              </a:rPr>
              <a:t>One normalization step exposed 901 contradictory labels (4.8%).</a:t>
            </a:r>
            <a:endParaRPr lang="en-US" sz="1400" dirty="0"/>
          </a:p>
        </p:txBody>
      </p:sp>
      <p:sp>
        <p:nvSpPr>
          <p:cNvPr id="7" name="Text 5"/>
          <p:cNvSpPr/>
          <p:nvPr/>
        </p:nvSpPr>
        <p:spPr>
          <a:xfrm>
            <a:off x="812800" y="2798961"/>
            <a:ext cx="65841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672"/>
                </a:solidFill>
                <a:latin typeface="IBM Plex Sans" pitchFamily="34" charset="0"/>
                <a:ea typeface="IBM Plex Sans" pitchFamily="34" charset="-122"/>
                <a:cs typeface="IBM Plex Sans" pitchFamily="34" charset="-120"/>
              </a:rPr>
              <a:t>02</a:t>
            </a:r>
            <a:endParaRPr lang="en-US" sz="3600" dirty="0"/>
          </a:p>
        </p:txBody>
      </p:sp>
      <p:sp>
        <p:nvSpPr>
          <p:cNvPr id="8" name="Text 6"/>
          <p:cNvSpPr/>
          <p:nvPr/>
        </p:nvSpPr>
        <p:spPr>
          <a:xfrm>
            <a:off x="1615480" y="2798961"/>
            <a:ext cx="5572779"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7F6F2"/>
                </a:solidFill>
                <a:latin typeface="IBM Plex Sans" pitchFamily="34" charset="0"/>
                <a:ea typeface="IBM Plex Sans" pitchFamily="34" charset="-122"/>
                <a:cs typeface="IBM Plex Sans" pitchFamily="34" charset="-120"/>
              </a:rPr>
              <a:t>Evaluate on new projects</a:t>
            </a:r>
            <a:endParaRPr lang="en-US" sz="1800" dirty="0"/>
          </a:p>
        </p:txBody>
      </p:sp>
      <p:sp>
        <p:nvSpPr>
          <p:cNvPr id="9" name="Text 7"/>
          <p:cNvSpPr/>
          <p:nvPr/>
        </p:nvSpPr>
        <p:spPr>
          <a:xfrm>
            <a:off x="1615480" y="3169779"/>
            <a:ext cx="649255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5"/>
                </a:solidFill>
                <a:latin typeface="IBM Plex Sans" pitchFamily="34" charset="0"/>
                <a:ea typeface="IBM Plex Sans" pitchFamily="34" charset="-122"/>
                <a:cs typeface="IBM Plex Sans" pitchFamily="34" charset="-120"/>
              </a:rPr>
              <a:t>F1 drops by a third on unseen projects, and validation scores hide it.</a:t>
            </a:r>
            <a:endParaRPr lang="en-US" sz="1400" dirty="0"/>
          </a:p>
        </p:txBody>
      </p:sp>
      <p:sp>
        <p:nvSpPr>
          <p:cNvPr id="10" name="Text 8"/>
          <p:cNvSpPr/>
          <p:nvPr/>
        </p:nvSpPr>
        <p:spPr>
          <a:xfrm>
            <a:off x="812800" y="3672681"/>
            <a:ext cx="65841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672"/>
                </a:solidFill>
                <a:latin typeface="IBM Plex Sans" pitchFamily="34" charset="0"/>
                <a:ea typeface="IBM Plex Sans" pitchFamily="34" charset="-122"/>
                <a:cs typeface="IBM Plex Sans" pitchFamily="34" charset="-120"/>
              </a:rPr>
              <a:t>03</a:t>
            </a:r>
            <a:endParaRPr lang="en-US" sz="3600" dirty="0"/>
          </a:p>
        </p:txBody>
      </p:sp>
      <p:sp>
        <p:nvSpPr>
          <p:cNvPr id="11" name="Text 9"/>
          <p:cNvSpPr/>
          <p:nvPr/>
        </p:nvSpPr>
        <p:spPr>
          <a:xfrm>
            <a:off x="1615480" y="3672681"/>
            <a:ext cx="537574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7F6F2"/>
                </a:solidFill>
                <a:latin typeface="IBM Plex Sans" pitchFamily="34" charset="0"/>
                <a:ea typeface="IBM Plex Sans" pitchFamily="34" charset="-122"/>
                <a:cs typeface="IBM Plex Sans" pitchFamily="34" charset="-120"/>
              </a:rPr>
              <a:t>Names are meaning, not just memory</a:t>
            </a:r>
            <a:endParaRPr lang="en-US" sz="1800" dirty="0"/>
          </a:p>
        </p:txBody>
      </p:sp>
      <p:sp>
        <p:nvSpPr>
          <p:cNvPr id="12" name="Text 10"/>
          <p:cNvSpPr/>
          <p:nvPr/>
        </p:nvSpPr>
        <p:spPr>
          <a:xfrm>
            <a:off x="1615480" y="4043499"/>
            <a:ext cx="626300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5"/>
                </a:solidFill>
                <a:latin typeface="IBM Plex Sans" pitchFamily="34" charset="0"/>
                <a:ea typeface="IBM Plex Sans" pitchFamily="34" charset="-122"/>
                <a:cs typeface="IBM Plex Sans" pitchFamily="34" charset="-120"/>
              </a:rPr>
              <a:t>Hiding them doesn’t fix generalization; the real cause is still open.</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AD"/>
                </a:solidFill>
                <a:latin typeface="IBM Plex Sans" pitchFamily="34" charset="0"/>
                <a:ea typeface="IBM Plex Sans" pitchFamily="34" charset="-122"/>
                <a:cs typeface="IBM Plex Sans" pitchFamily="34" charset="-120"/>
              </a:rPr>
              <a:t>Do Vulnerability Detectors Memorize Names?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22B"/>
          </a:solidFill>
          <a:ln/>
        </p:spPr>
      </p:sp>
      <p:sp>
        <p:nvSpPr>
          <p:cNvPr id="3" name="Text 1"/>
          <p:cNvSpPr/>
          <p:nvPr>
            <p:ph type="title"/>
          </p:nvPr>
        </p:nvSpPr>
        <p:spPr>
          <a:xfrm>
            <a:off x="812800" y="19837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13D"/>
                </a:solidFill>
                <a:latin typeface="IBM Plex Sans" pitchFamily="34" charset="0"/>
                <a:ea typeface="IBM Plex Sans" pitchFamily="34" charset="-122"/>
                <a:cs typeface="IBM Plex Sans" pitchFamily="34" charset="-120"/>
              </a:rPr>
              <a:t>Thank you.</a:t>
            </a:r>
            <a:endParaRPr lang="en-US" sz="6000" dirty="0"/>
          </a:p>
          <a:p>
            <a:pPr algn="l" indent="0" marL="0">
              <a:lnSpc>
                <a:spcPts val="6300"/>
              </a:lnSpc>
              <a:buNone/>
            </a:pPr>
            <a:r>
              <a:rPr lang="en-US" sz="6000" b="1" i="0" dirty="0">
                <a:solidFill>
                  <a:srgbClr val="14213D"/>
                </a:solidFill>
                <a:latin typeface="IBM Plex Sans" pitchFamily="34" charset="0"/>
                <a:ea typeface="IBM Plex Sans" pitchFamily="34" charset="-122"/>
                <a:cs typeface="IBM Plex Sans" pitchFamily="34" charset="-120"/>
              </a:rPr>
              <a:t>Questions?</a:t>
            </a:r>
            <a:endParaRPr lang="en-US" sz="6000" dirty="0"/>
          </a:p>
        </p:txBody>
      </p:sp>
      <p:sp>
        <p:nvSpPr>
          <p:cNvPr id="4" name="Text 2"/>
          <p:cNvSpPr/>
          <p:nvPr/>
        </p:nvSpPr>
        <p:spPr>
          <a:xfrm>
            <a:off x="812800" y="388878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Aashit Agrawal (26072005) · Mohit Kukreja (26072016)</a:t>
            </a:r>
            <a:endParaRPr lang="en-US" sz="1600" dirty="0"/>
          </a:p>
        </p:txBody>
      </p:sp>
      <p:sp>
        <p:nvSpPr>
          <p:cNvPr id="5" name="Text 3"/>
          <p:cNvSpPr/>
          <p:nvPr/>
        </p:nvSpPr>
        <p:spPr>
          <a:xfrm>
            <a:off x="812800" y="42748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Code, executed notebooks and report: </a:t>
            </a:r>
            <a:r>
              <a:rPr lang="en-US" sz="1500" u="sng" dirty="0">
                <a:solidFill>
                  <a:srgbClr val="3A455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github.com/aashitagrawal/diversevul-vuln-detection</a:t>
            </a:r>
            <a:endParaRPr lang="en-US" sz="1500" dirty="0"/>
          </a:p>
        </p:txBody>
      </p:sp>
      <p:sp>
        <p:nvSpPr>
          <p:cNvPr id="6" name="Text 4"/>
          <p:cNvSpPr/>
          <p:nvPr/>
        </p:nvSpPr>
        <p:spPr>
          <a:xfrm>
            <a:off x="812800" y="4643115"/>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D"/>
                </a:solidFill>
                <a:latin typeface="IBM Plex Sans" pitchFamily="34" charset="0"/>
                <a:ea typeface="IBM Plex Sans" pitchFamily="34" charset="-122"/>
                <a:cs typeface="IBM Plex Sans" pitchFamily="34" charset="-120"/>
              </a:rPr>
              <a:t>Paper: Chen et al., “DiverseVul: A New Vulnerable Source Code Dataset for Deep Learning Based Vulnerability Detection”, RAID 2023</a:t>
            </a:r>
            <a:endParaRPr lang="en-US" sz="1300" dirty="0"/>
          </a:p>
        </p:txBody>
      </p:sp>
    </p:spTree>
  </p:cSld>
  <p:clrMapOvr>
    <a:masterClrMapping/>
  </p:clrMapOvr>
</p:sld>
</file>

<file path=ppt/theme/theme1.xml><?xml version="1.0" encoding="utf-8"?>
<a:theme xmlns:a="http://schemas.openxmlformats.org/drawingml/2006/main" name="Do Vulnerability Detectors Memorize Names?">
  <a:themeElements>
    <a:clrScheme name="Do Vulnerability Detectors Memorize Names?">
      <a:dk1>
        <a:srgbClr val="14213D"/>
      </a:dk1>
      <a:lt1>
        <a:srgbClr val="F7F6F2"/>
      </a:lt1>
      <a:dk2>
        <a:srgbClr val="4D566A"/>
      </a:dk2>
      <a:lt2>
        <a:srgbClr val="E0E1E0"/>
      </a:lt2>
      <a:accent1>
        <a:srgbClr val="2F6FB0"/>
      </a:accent1>
      <a:accent2>
        <a:srgbClr val="B5491A"/>
      </a:accent2>
      <a:accent3>
        <a:srgbClr val="FBE3D3"/>
      </a:accent3>
      <a:accent4>
        <a:srgbClr val="F4A672"/>
      </a:accent4>
      <a:accent5>
        <a:srgbClr val="8FB4E3"/>
      </a:accent5>
      <a:accent6>
        <a:srgbClr val="D9622B"/>
      </a:accent6>
      <a:hlink>
        <a:srgbClr val="0563C1"/>
      </a:hlink>
      <a:folHlink>
        <a:srgbClr val="954F72"/>
      </a:folHlink>
    </a:clrScheme>
    <a:fontScheme name="Do Vulnerability Detectors Memorize Nam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Vulnerability Detectors Memorize Names?</dc:title>
  <dc:subject/>
  <dc:creator/>
  <cp:lastModifiedBy/>
  <cp:revision>1</cp:revision>
  <dcterms:created xsi:type="dcterms:W3CDTF">2026-10-15T08:32:11Z</dcterms:created>
  <dcterms:modified xsi:type="dcterms:W3CDTF">2026-10-15T08:32:11Z</dcterms:modified>
</cp:coreProperties>
</file>